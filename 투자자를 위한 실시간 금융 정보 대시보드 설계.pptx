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24384000" cy="13716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 autoAdjust="0"/>
    <p:restoredTop sz="94626" autoAdjust="0"/>
  </p:normalViewPr>
  <p:slideViewPr>
    <p:cSldViewPr>
      <p:cViewPr varScale="1">
        <p:scale>
          <a:sx n="60" d="100"/>
          <a:sy n="60" d="100"/>
        </p:scale>
        <p:origin x="280" y="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4D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21894800" y="9829800"/>
            <a:ext cx="2476500" cy="2476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19405600" y="9829800"/>
            <a:ext cx="2476500" cy="2476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07500" y="12306300"/>
            <a:ext cx="2476500" cy="2476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>
            <a:off x="19443700" y="12306300"/>
            <a:ext cx="2476500" cy="24765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14643100" y="9893300"/>
            <a:ext cx="4864100" cy="4864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>
            <a:alphaModFix amt="40000"/>
          </a:blip>
          <a:stretch>
            <a:fillRect/>
          </a:stretch>
        </p:blipFill>
        <p:spPr>
          <a:xfrm>
            <a:off x="10629900" y="9893300"/>
            <a:ext cx="4889500" cy="48895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>
            <a:alphaModFix amt="70000"/>
          </a:blip>
          <a:stretch>
            <a:fillRect/>
          </a:stretch>
        </p:blipFill>
        <p:spPr>
          <a:xfrm>
            <a:off x="0" y="0"/>
            <a:ext cx="647700" cy="9906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2006600" y="1981200"/>
            <a:ext cx="17868900" cy="4445000"/>
          </a:xfrm>
          <a:prstGeom prst="rect">
            <a:avLst/>
          </a:prstGeom>
        </p:spPr>
        <p:txBody>
          <a:bodyPr lIns="0" tIns="0" rIns="0" bIns="73891" rtlCol="0" anchor="b"/>
          <a:lstStyle/>
          <a:p>
            <a:pPr lvl="0" algn="l">
              <a:lnSpc>
                <a:spcPct val="108729"/>
              </a:lnSpc>
            </a:pPr>
            <a:r>
              <a:rPr lang="ko-KR" sz="12929" b="0" i="0" u="none" strike="noStrike" spc="-259" dirty="0">
                <a:solidFill>
                  <a:srgbClr val="FFFFFF"/>
                </a:solidFill>
                <a:latin typeface="+mj-ea"/>
                <a:ea typeface="+mj-ea"/>
              </a:rPr>
              <a:t>투자자를</a:t>
            </a:r>
            <a:r>
              <a:rPr lang="en-US" sz="12929" b="0" i="0" u="none" strike="noStrike" spc="-259" dirty="0">
                <a:solidFill>
                  <a:srgbClr val="FFFFFF"/>
                </a:solidFill>
                <a:latin typeface="+mj-ea"/>
                <a:ea typeface="+mj-ea"/>
              </a:rPr>
              <a:t> </a:t>
            </a:r>
            <a:r>
              <a:rPr lang="ko-KR" sz="12929" b="0" i="0" u="none" strike="noStrike" spc="-259" dirty="0">
                <a:solidFill>
                  <a:srgbClr val="FFFFFF"/>
                </a:solidFill>
                <a:latin typeface="+mj-ea"/>
                <a:ea typeface="+mj-ea"/>
              </a:rPr>
              <a:t>위한</a:t>
            </a:r>
            <a:r>
              <a:rPr lang="en-US" sz="12929" b="0" i="0" u="none" strike="noStrike" spc="-259" dirty="0">
                <a:solidFill>
                  <a:srgbClr val="FFFFFF"/>
                </a:solidFill>
                <a:latin typeface="+mj-ea"/>
                <a:ea typeface="+mj-ea"/>
              </a:rPr>
              <a:t> </a:t>
            </a:r>
            <a:r>
              <a:rPr lang="ko-KR" sz="12929" b="0" i="0" u="none" strike="noStrike" spc="-259" dirty="0">
                <a:solidFill>
                  <a:srgbClr val="FFFFFF"/>
                </a:solidFill>
                <a:latin typeface="+mj-ea"/>
                <a:ea typeface="+mj-ea"/>
              </a:rPr>
              <a:t>실시간</a:t>
            </a:r>
            <a:r>
              <a:rPr lang="en-US" sz="12929" b="0" i="0" u="none" strike="noStrike" spc="-259" dirty="0">
                <a:solidFill>
                  <a:srgbClr val="FFFFFF"/>
                </a:solidFill>
                <a:latin typeface="+mj-ea"/>
                <a:ea typeface="+mj-ea"/>
              </a:rPr>
              <a:t> </a:t>
            </a:r>
            <a:r>
              <a:rPr lang="ko-KR" sz="12929" b="0" i="0" u="none" strike="noStrike" spc="-259" dirty="0">
                <a:solidFill>
                  <a:srgbClr val="FFFFFF"/>
                </a:solidFill>
                <a:latin typeface="+mj-ea"/>
                <a:ea typeface="+mj-ea"/>
              </a:rPr>
              <a:t>금융</a:t>
            </a:r>
            <a:r>
              <a:rPr lang="en-US" sz="12929" b="0" i="0" u="none" strike="noStrike" spc="-259" dirty="0">
                <a:solidFill>
                  <a:srgbClr val="FFFFFF"/>
                </a:solidFill>
                <a:latin typeface="+mj-ea"/>
                <a:ea typeface="+mj-ea"/>
              </a:rPr>
              <a:t> </a:t>
            </a:r>
            <a:r>
              <a:rPr lang="ko-KR" sz="12929" b="0" i="0" u="none" strike="noStrike" spc="-259" dirty="0">
                <a:solidFill>
                  <a:srgbClr val="FFFFFF"/>
                </a:solidFill>
                <a:latin typeface="+mj-ea"/>
                <a:ea typeface="+mj-ea"/>
              </a:rPr>
              <a:t>정보</a:t>
            </a:r>
            <a:r>
              <a:rPr lang="en-US" sz="12929" b="0" i="0" u="none" strike="noStrike" spc="-259" dirty="0">
                <a:solidFill>
                  <a:srgbClr val="FFFFFF"/>
                </a:solidFill>
                <a:latin typeface="+mj-ea"/>
                <a:ea typeface="+mj-ea"/>
              </a:rPr>
              <a:t> </a:t>
            </a:r>
            <a:r>
              <a:rPr lang="ko-KR" sz="12929" b="0" i="0" u="none" strike="noStrike" spc="-259" dirty="0">
                <a:solidFill>
                  <a:srgbClr val="FFFFFF"/>
                </a:solidFill>
                <a:latin typeface="+mj-ea"/>
                <a:ea typeface="+mj-ea"/>
              </a:rPr>
              <a:t>대시보드</a:t>
            </a:r>
            <a:r>
              <a:rPr lang="en-US" sz="12929" b="0" i="0" u="none" strike="noStrike" spc="-259" dirty="0">
                <a:solidFill>
                  <a:srgbClr val="FFFFFF"/>
                </a:solidFill>
                <a:latin typeface="+mj-ea"/>
                <a:ea typeface="+mj-ea"/>
              </a:rPr>
              <a:t> </a:t>
            </a:r>
            <a:r>
              <a:rPr lang="ko-KR" sz="12929" b="0" i="0" u="none" strike="noStrike" spc="-259" dirty="0">
                <a:solidFill>
                  <a:srgbClr val="FFFFFF"/>
                </a:solidFill>
                <a:latin typeface="+mj-ea"/>
                <a:ea typeface="+mj-ea"/>
              </a:rPr>
              <a:t>설계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1562100" y="12090400"/>
            <a:ext cx="952500" cy="381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2286000" y="11760200"/>
            <a:ext cx="7975600" cy="7112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20350"/>
              </a:lnSpc>
            </a:pPr>
            <a:r>
              <a:rPr lang="ko-KR" sz="2000" b="0" i="0" u="none" strike="noStrike" dirty="0">
                <a:solidFill>
                  <a:srgbClr val="FFFFFF"/>
                </a:solidFill>
                <a:latin typeface="+mn-ea"/>
              </a:rPr>
              <a:t>윤창빈</a:t>
            </a:r>
            <a:r>
              <a:rPr lang="en-US" sz="2000" b="0" i="0" u="none" strike="noStrike" dirty="0">
                <a:solidFill>
                  <a:srgbClr val="FFFFFF"/>
                </a:solidFill>
                <a:latin typeface="+mn-ea"/>
              </a:rPr>
              <a:t>(</a:t>
            </a:r>
            <a:r>
              <a:rPr lang="ko-KR" sz="2000" b="0" i="0" u="none" strike="noStrike" dirty="0">
                <a:solidFill>
                  <a:srgbClr val="FFFFFF"/>
                </a:solidFill>
                <a:latin typeface="+mn-ea"/>
              </a:rPr>
              <a:t>홈페이지</a:t>
            </a:r>
            <a:r>
              <a:rPr lang="en-US" sz="2000" b="0" i="0" u="none" strike="noStrike" dirty="0">
                <a:solidFill>
                  <a:srgbClr val="FFFFFF"/>
                </a:solidFill>
                <a:latin typeface="+mn-ea"/>
              </a:rPr>
              <a:t> </a:t>
            </a:r>
            <a:r>
              <a:rPr lang="ko-KR" sz="2000" b="0" i="0" u="none" strike="noStrike" dirty="0">
                <a:solidFill>
                  <a:srgbClr val="FFFFFF"/>
                </a:solidFill>
                <a:latin typeface="+mn-ea"/>
              </a:rPr>
              <a:t>만들기</a:t>
            </a:r>
            <a:r>
              <a:rPr lang="en-US" sz="2000" b="0" i="0" u="none" strike="noStrike" dirty="0">
                <a:solidFill>
                  <a:srgbClr val="FFFFFF"/>
                </a:solidFill>
                <a:latin typeface="+mn-ea"/>
              </a:rPr>
              <a:t>)</a:t>
            </a:r>
          </a:p>
          <a:p>
            <a:pPr lvl="0" algn="l">
              <a:lnSpc>
                <a:spcPct val="120350"/>
              </a:lnSpc>
            </a:pPr>
            <a:r>
              <a:rPr lang="ko-KR" sz="2000" b="0" i="0" u="none" strike="noStrike" dirty="0">
                <a:solidFill>
                  <a:srgbClr val="FFFFFF"/>
                </a:solidFill>
                <a:latin typeface="+mn-ea"/>
              </a:rPr>
              <a:t>조성인</a:t>
            </a:r>
            <a:r>
              <a:rPr lang="en-US" sz="2000" b="0" i="0" u="none" strike="noStrike" dirty="0">
                <a:solidFill>
                  <a:srgbClr val="FFFFFF"/>
                </a:solidFill>
                <a:latin typeface="+mn-ea"/>
              </a:rPr>
              <a:t>(</a:t>
            </a:r>
            <a:r>
              <a:rPr lang="ko-KR" sz="2000" b="0" i="0" u="none" strike="noStrike" dirty="0">
                <a:solidFill>
                  <a:srgbClr val="FFFFFF"/>
                </a:solidFill>
                <a:latin typeface="+mn-ea"/>
              </a:rPr>
              <a:t>발표자료</a:t>
            </a:r>
            <a:r>
              <a:rPr lang="en-US" sz="2000" b="0" i="0" u="none" strike="noStrike" dirty="0">
                <a:solidFill>
                  <a:srgbClr val="FFFFFF"/>
                </a:solidFill>
                <a:latin typeface="+mn-ea"/>
              </a:rPr>
              <a:t> </a:t>
            </a:r>
            <a:r>
              <a:rPr lang="ko-KR" sz="2000" b="0" i="0" u="none" strike="noStrike" dirty="0">
                <a:solidFill>
                  <a:srgbClr val="FFFFFF"/>
                </a:solidFill>
                <a:latin typeface="+mn-ea"/>
              </a:rPr>
              <a:t>만들기</a:t>
            </a:r>
            <a:r>
              <a:rPr lang="en-US" sz="2000" b="0" i="0" u="none" strike="noStrike" dirty="0">
                <a:solidFill>
                  <a:srgbClr val="FFFFFF"/>
                </a:solidFill>
                <a:latin typeface="+mn-ea"/>
              </a:rPr>
              <a:t>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006600" y="6400800"/>
            <a:ext cx="17538700" cy="762000"/>
          </a:xfrm>
          <a:prstGeom prst="rect">
            <a:avLst/>
          </a:prstGeom>
        </p:spPr>
        <p:txBody>
          <a:bodyPr lIns="0" tIns="54186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sz="4266" b="0" i="0" u="none" strike="noStrike" spc="-43" dirty="0">
                <a:solidFill>
                  <a:srgbClr val="EEF2FC"/>
                </a:solidFill>
                <a:latin typeface="+mn-ea"/>
              </a:rPr>
              <a:t>차트</a:t>
            </a:r>
            <a:r>
              <a:rPr lang="en-US" sz="4266" b="0" i="0" u="none" strike="noStrike" spc="-43" dirty="0">
                <a:solidFill>
                  <a:srgbClr val="EEF2FC"/>
                </a:solidFill>
                <a:latin typeface="+mn-ea"/>
              </a:rPr>
              <a:t>, </a:t>
            </a:r>
            <a:r>
              <a:rPr lang="ko-KR" sz="4266" b="0" i="0" u="none" strike="noStrike" spc="-43" dirty="0">
                <a:solidFill>
                  <a:srgbClr val="EEF2FC"/>
                </a:solidFill>
                <a:latin typeface="+mn-ea"/>
              </a:rPr>
              <a:t>전략</a:t>
            </a:r>
            <a:r>
              <a:rPr lang="en-US" sz="4266" b="0" i="0" u="none" strike="noStrike" spc="-43" dirty="0">
                <a:solidFill>
                  <a:srgbClr val="EEF2FC"/>
                </a:solidFill>
                <a:latin typeface="+mn-ea"/>
              </a:rPr>
              <a:t>, </a:t>
            </a:r>
            <a:r>
              <a:rPr lang="ko-KR" sz="4266" b="0" i="0" u="none" strike="noStrike" spc="-43" dirty="0">
                <a:solidFill>
                  <a:srgbClr val="EEF2FC"/>
                </a:solidFill>
                <a:latin typeface="+mn-ea"/>
              </a:rPr>
              <a:t>뉴스를</a:t>
            </a:r>
            <a:r>
              <a:rPr lang="en-US" sz="4266" b="0" i="0" u="none" strike="noStrike" spc="-43" dirty="0">
                <a:solidFill>
                  <a:srgbClr val="EEF2FC"/>
                </a:solidFill>
                <a:latin typeface="+mn-ea"/>
              </a:rPr>
              <a:t> </a:t>
            </a:r>
            <a:r>
              <a:rPr lang="ko-KR" sz="4266" b="0" i="0" u="none" strike="noStrike" spc="-43" dirty="0">
                <a:solidFill>
                  <a:srgbClr val="EEF2FC"/>
                </a:solidFill>
                <a:latin typeface="+mn-ea"/>
              </a:rPr>
              <a:t>한눈에</a:t>
            </a:r>
            <a:r>
              <a:rPr lang="en-US" sz="4266" b="0" i="0" u="none" strike="noStrike" spc="-43" dirty="0">
                <a:solidFill>
                  <a:srgbClr val="EEF2FC"/>
                </a:solidFill>
                <a:latin typeface="+mn-ea"/>
              </a:rPr>
              <a:t> </a:t>
            </a:r>
            <a:r>
              <a:rPr lang="ko-KR" sz="4266" b="0" i="0" u="none" strike="noStrike" spc="-43" dirty="0">
                <a:solidFill>
                  <a:srgbClr val="EEF2FC"/>
                </a:solidFill>
                <a:latin typeface="+mn-ea"/>
              </a:rPr>
              <a:t>확인하는</a:t>
            </a:r>
            <a:r>
              <a:rPr lang="en-US" sz="4266" b="0" i="0" u="none" strike="noStrike" spc="-43" dirty="0">
                <a:solidFill>
                  <a:srgbClr val="EEF2FC"/>
                </a:solidFill>
                <a:latin typeface="+mn-ea"/>
              </a:rPr>
              <a:t> </a:t>
            </a:r>
            <a:r>
              <a:rPr lang="ko-KR" sz="4266" b="0" i="0" u="none" strike="noStrike" spc="-43" dirty="0">
                <a:solidFill>
                  <a:srgbClr val="EEF2FC"/>
                </a:solidFill>
                <a:latin typeface="+mn-ea"/>
              </a:rPr>
              <a:t>통합</a:t>
            </a:r>
            <a:r>
              <a:rPr lang="en-US" sz="4266" b="0" i="0" u="none" strike="noStrike" spc="-43" dirty="0">
                <a:solidFill>
                  <a:srgbClr val="EEF2FC"/>
                </a:solidFill>
                <a:latin typeface="+mn-ea"/>
              </a:rPr>
              <a:t> </a:t>
            </a:r>
            <a:r>
              <a:rPr lang="ko-KR" sz="4266" b="0" i="0" u="none" strike="noStrike" spc="-43" dirty="0">
                <a:solidFill>
                  <a:srgbClr val="EEF2FC"/>
                </a:solidFill>
                <a:latin typeface="+mn-ea"/>
              </a:rPr>
              <a:t>솔루션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044700" y="7162800"/>
            <a:ext cx="12179300" cy="33274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20350"/>
              </a:lnSpc>
            </a:pPr>
            <a:endParaRPr dirty="0"/>
          </a:p>
          <a:p>
            <a:pPr lvl="0" algn="l">
              <a:lnSpc>
                <a:spcPct val="120350"/>
              </a:lnSpc>
            </a:pPr>
            <a:r>
              <a:rPr lang="en-US" sz="3054" b="0" i="0" u="none" strike="noStrike" dirty="0">
                <a:solidFill>
                  <a:srgbClr val="FFFFFF"/>
                </a:solidFill>
                <a:latin typeface="+mn-ea"/>
              </a:rPr>
              <a:t>HTML5, CSS3: </a:t>
            </a:r>
            <a:r>
              <a:rPr lang="ko-KR" sz="3054" b="0" i="0" u="none" strike="noStrike" dirty="0">
                <a:solidFill>
                  <a:srgbClr val="FFFFFF"/>
                </a:solidFill>
                <a:latin typeface="+mn-ea"/>
              </a:rPr>
              <a:t>웹페이지</a:t>
            </a:r>
            <a:r>
              <a:rPr lang="en-US" sz="3054" b="0" i="0" u="none" strike="noStrike" dirty="0">
                <a:solidFill>
                  <a:srgbClr val="FFFFFF"/>
                </a:solidFill>
                <a:latin typeface="+mn-ea"/>
              </a:rPr>
              <a:t> </a:t>
            </a:r>
            <a:r>
              <a:rPr lang="ko-KR" sz="3054" b="0" i="0" u="none" strike="noStrike" dirty="0">
                <a:solidFill>
                  <a:srgbClr val="FFFFFF"/>
                </a:solidFill>
                <a:latin typeface="+mn-ea"/>
              </a:rPr>
              <a:t>구조</a:t>
            </a:r>
            <a:r>
              <a:rPr lang="en-US" sz="3054" b="0" i="0" u="none" strike="noStrike" dirty="0">
                <a:solidFill>
                  <a:srgbClr val="FFFFFF"/>
                </a:solidFill>
                <a:latin typeface="+mn-ea"/>
              </a:rPr>
              <a:t> </a:t>
            </a:r>
            <a:r>
              <a:rPr lang="ko-KR" sz="3054" b="0" i="0" u="none" strike="noStrike" dirty="0">
                <a:solidFill>
                  <a:srgbClr val="FFFFFF"/>
                </a:solidFill>
                <a:latin typeface="+mn-ea"/>
              </a:rPr>
              <a:t>및</a:t>
            </a:r>
            <a:r>
              <a:rPr lang="en-US" sz="3054" b="0" i="0" u="none" strike="noStrike" dirty="0">
                <a:solidFill>
                  <a:srgbClr val="FFFFFF"/>
                </a:solidFill>
                <a:latin typeface="+mn-ea"/>
              </a:rPr>
              <a:t> </a:t>
            </a:r>
            <a:r>
              <a:rPr lang="ko-KR" sz="3054" b="0" i="0" u="none" strike="noStrike" dirty="0">
                <a:solidFill>
                  <a:srgbClr val="FFFFFF"/>
                </a:solidFill>
                <a:latin typeface="+mn-ea"/>
              </a:rPr>
              <a:t>스타일링</a:t>
            </a:r>
            <a:r>
              <a:rPr lang="en-US" sz="3054" b="0" i="0" u="none" strike="noStrike" dirty="0">
                <a:solidFill>
                  <a:srgbClr val="FFFFFF"/>
                </a:solidFill>
                <a:latin typeface="+mn-ea"/>
              </a:rPr>
              <a:t>
</a:t>
            </a:r>
            <a:r>
              <a:rPr lang="en-US" sz="3054" b="0" i="0" u="none" strike="noStrike" dirty="0" err="1">
                <a:solidFill>
                  <a:srgbClr val="FFFFFF"/>
                </a:solidFill>
                <a:latin typeface="+mn-ea"/>
              </a:rPr>
              <a:t>TradingView</a:t>
            </a:r>
            <a:r>
              <a:rPr lang="en-US" sz="3054" b="0" i="0" u="none" strike="noStrike" dirty="0">
                <a:solidFill>
                  <a:srgbClr val="FFFFFF"/>
                </a:solidFill>
                <a:latin typeface="+mn-ea"/>
              </a:rPr>
              <a:t> Widget: </a:t>
            </a:r>
            <a:r>
              <a:rPr lang="ko-KR" sz="3054" b="0" i="0" u="none" strike="noStrike" dirty="0">
                <a:solidFill>
                  <a:srgbClr val="FFFFFF"/>
                </a:solidFill>
                <a:latin typeface="+mn-ea"/>
              </a:rPr>
              <a:t>실시간</a:t>
            </a:r>
            <a:r>
              <a:rPr lang="en-US" sz="3054" b="0" i="0" u="none" strike="noStrike" dirty="0">
                <a:solidFill>
                  <a:srgbClr val="FFFFFF"/>
                </a:solidFill>
                <a:latin typeface="+mn-ea"/>
              </a:rPr>
              <a:t> </a:t>
            </a:r>
            <a:r>
              <a:rPr lang="ko-KR" sz="3054" b="0" i="0" u="none" strike="noStrike" dirty="0">
                <a:solidFill>
                  <a:srgbClr val="FFFFFF"/>
                </a:solidFill>
                <a:latin typeface="+mn-ea"/>
              </a:rPr>
              <a:t>차트</a:t>
            </a:r>
            <a:r>
              <a:rPr lang="en-US" sz="3054" b="0" i="0" u="none" strike="noStrike" dirty="0">
                <a:solidFill>
                  <a:srgbClr val="FFFFFF"/>
                </a:solidFill>
                <a:latin typeface="+mn-ea"/>
              </a:rPr>
              <a:t> </a:t>
            </a:r>
            <a:r>
              <a:rPr lang="ko-KR" sz="3054" b="0" i="0" u="none" strike="noStrike" dirty="0">
                <a:solidFill>
                  <a:srgbClr val="FFFFFF"/>
                </a:solidFill>
                <a:latin typeface="+mn-ea"/>
              </a:rPr>
              <a:t>위젯</a:t>
            </a:r>
            <a:r>
              <a:rPr lang="en-US" sz="3054" b="0" i="0" u="none" strike="noStrike" dirty="0">
                <a:solidFill>
                  <a:srgbClr val="FFFFFF"/>
                </a:solidFill>
                <a:latin typeface="+mn-ea"/>
              </a:rPr>
              <a:t> </a:t>
            </a:r>
            <a:r>
              <a:rPr lang="ko-KR" sz="3054" b="0" i="0" u="none" strike="noStrike" dirty="0" err="1">
                <a:solidFill>
                  <a:srgbClr val="FFFFFF"/>
                </a:solidFill>
                <a:latin typeface="+mn-ea"/>
              </a:rPr>
              <a:t>임베딩</a:t>
            </a:r>
            <a:r>
              <a:rPr lang="en-US" sz="3054" b="0" i="0" u="none" strike="noStrike" dirty="0">
                <a:solidFill>
                  <a:srgbClr val="FFFFFF"/>
                </a:solidFill>
                <a:latin typeface="+mn-ea"/>
              </a:rPr>
              <a:t>
ChatGPT (</a:t>
            </a:r>
            <a:r>
              <a:rPr lang="ko-KR" sz="3054" b="0" i="0" u="none" strike="noStrike" dirty="0">
                <a:solidFill>
                  <a:srgbClr val="FFFFFF"/>
                </a:solidFill>
                <a:latin typeface="+mn-ea"/>
              </a:rPr>
              <a:t>생성형</a:t>
            </a:r>
            <a:r>
              <a:rPr lang="en-US" sz="3054" b="0" i="0" u="none" strike="noStrike" dirty="0">
                <a:solidFill>
                  <a:srgbClr val="FFFFFF"/>
                </a:solidFill>
                <a:latin typeface="+mn-ea"/>
              </a:rPr>
              <a:t> AI): </a:t>
            </a:r>
            <a:r>
              <a:rPr lang="ko-KR" sz="3054" b="0" i="0" u="none" strike="noStrike" dirty="0">
                <a:solidFill>
                  <a:srgbClr val="FFFFFF"/>
                </a:solidFill>
                <a:latin typeface="+mn-ea"/>
              </a:rPr>
              <a:t>주식</a:t>
            </a:r>
            <a:r>
              <a:rPr lang="en-US" sz="3054" b="0" i="0" u="none" strike="noStrike" dirty="0">
                <a:solidFill>
                  <a:srgbClr val="FFFFFF"/>
                </a:solidFill>
                <a:latin typeface="+mn-ea"/>
              </a:rPr>
              <a:t> </a:t>
            </a:r>
            <a:r>
              <a:rPr lang="ko-KR" sz="3054" b="0" i="0" u="none" strike="noStrike" dirty="0">
                <a:solidFill>
                  <a:srgbClr val="FFFFFF"/>
                </a:solidFill>
                <a:latin typeface="+mn-ea"/>
              </a:rPr>
              <a:t>분석</a:t>
            </a:r>
            <a:r>
              <a:rPr lang="en-US" sz="3054" b="0" i="0" u="none" strike="noStrike" dirty="0">
                <a:solidFill>
                  <a:srgbClr val="FFFFFF"/>
                </a:solidFill>
                <a:latin typeface="+mn-ea"/>
              </a:rPr>
              <a:t>, </a:t>
            </a:r>
            <a:r>
              <a:rPr lang="ko-KR" sz="3054" b="0" i="0" u="none" strike="noStrike" dirty="0">
                <a:solidFill>
                  <a:srgbClr val="FFFFFF"/>
                </a:solidFill>
                <a:latin typeface="+mn-ea"/>
              </a:rPr>
              <a:t>매수</a:t>
            </a:r>
            <a:r>
              <a:rPr lang="en-US" sz="3054" b="0" i="0" u="none" strike="noStrike" dirty="0">
                <a:solidFill>
                  <a:srgbClr val="FFFFFF"/>
                </a:solidFill>
                <a:latin typeface="+mn-ea"/>
              </a:rPr>
              <a:t>·</a:t>
            </a:r>
            <a:r>
              <a:rPr lang="ko-KR" sz="3054" b="0" i="0" u="none" strike="noStrike" dirty="0">
                <a:solidFill>
                  <a:srgbClr val="FFFFFF"/>
                </a:solidFill>
                <a:latin typeface="+mn-ea"/>
              </a:rPr>
              <a:t>매도</a:t>
            </a:r>
            <a:r>
              <a:rPr lang="en-US" sz="3054" b="0" i="0" u="none" strike="noStrike" dirty="0">
                <a:solidFill>
                  <a:srgbClr val="FFFFFF"/>
                </a:solidFill>
                <a:latin typeface="+mn-ea"/>
              </a:rPr>
              <a:t> </a:t>
            </a:r>
            <a:r>
              <a:rPr lang="ko-KR" sz="3054" b="0" i="0" u="none" strike="noStrike" dirty="0">
                <a:solidFill>
                  <a:srgbClr val="FFFFFF"/>
                </a:solidFill>
                <a:latin typeface="+mn-ea"/>
              </a:rPr>
              <a:t>전략</a:t>
            </a:r>
            <a:r>
              <a:rPr lang="en-US" sz="3054" b="0" i="0" u="none" strike="noStrike" dirty="0">
                <a:solidFill>
                  <a:srgbClr val="FFFFFF"/>
                </a:solidFill>
                <a:latin typeface="+mn-ea"/>
              </a:rPr>
              <a:t>, </a:t>
            </a:r>
            <a:r>
              <a:rPr lang="ko-KR" sz="3054" b="0" i="0" u="none" strike="noStrike" dirty="0">
                <a:solidFill>
                  <a:srgbClr val="FFFFFF"/>
                </a:solidFill>
                <a:latin typeface="+mn-ea"/>
              </a:rPr>
              <a:t>뉴스</a:t>
            </a:r>
            <a:r>
              <a:rPr lang="en-US" sz="3054" b="0" i="0" u="none" strike="noStrike" dirty="0">
                <a:solidFill>
                  <a:srgbClr val="FFFFFF"/>
                </a:solidFill>
                <a:latin typeface="+mn-ea"/>
              </a:rPr>
              <a:t> </a:t>
            </a:r>
            <a:r>
              <a:rPr lang="ko-KR" sz="3054" b="0" i="0" u="none" strike="noStrike" dirty="0">
                <a:solidFill>
                  <a:srgbClr val="FFFFFF"/>
                </a:solidFill>
                <a:latin typeface="+mn-ea"/>
              </a:rPr>
              <a:t>요약</a:t>
            </a:r>
            <a:r>
              <a:rPr lang="en-US" sz="3054" b="0" i="0" u="none" strike="noStrike" dirty="0">
                <a:solidFill>
                  <a:srgbClr val="FFFFFF"/>
                </a:solidFill>
                <a:latin typeface="+mn-ea"/>
              </a:rPr>
              <a:t> </a:t>
            </a:r>
            <a:r>
              <a:rPr lang="ko-KR" sz="3054" b="0" i="0" u="none" strike="noStrike" dirty="0">
                <a:solidFill>
                  <a:srgbClr val="FFFFFF"/>
                </a:solidFill>
                <a:latin typeface="+mn-ea"/>
              </a:rPr>
              <a:t>자동화</a:t>
            </a:r>
            <a:r>
              <a:rPr lang="en-US" sz="3054" b="0" i="0" u="none" strike="noStrike" dirty="0">
                <a:solidFill>
                  <a:srgbClr val="FFFFFF"/>
                </a:solidFill>
                <a:latin typeface="+mn-ea"/>
              </a:rPr>
              <a:t>
VS Code: </a:t>
            </a:r>
            <a:r>
              <a:rPr lang="ko-KR" sz="3054" b="0" i="0" u="none" strike="noStrike" dirty="0">
                <a:solidFill>
                  <a:srgbClr val="FFFFFF"/>
                </a:solidFill>
                <a:latin typeface="+mn-ea"/>
              </a:rPr>
              <a:t>코드</a:t>
            </a:r>
            <a:r>
              <a:rPr lang="en-US" sz="3054" b="0" i="0" u="none" strike="noStrike" dirty="0">
                <a:solidFill>
                  <a:srgbClr val="FFFFFF"/>
                </a:solidFill>
                <a:latin typeface="+mn-ea"/>
              </a:rPr>
              <a:t> </a:t>
            </a:r>
            <a:r>
              <a:rPr lang="ko-KR" sz="3054" b="0" i="0" u="none" strike="noStrike" dirty="0">
                <a:solidFill>
                  <a:srgbClr val="FFFFFF"/>
                </a:solidFill>
                <a:latin typeface="+mn-ea"/>
              </a:rPr>
              <a:t>작성</a:t>
            </a:r>
            <a:r>
              <a:rPr lang="en-US" sz="3054" b="0" i="0" u="none" strike="noStrike" dirty="0">
                <a:solidFill>
                  <a:srgbClr val="FFFFFF"/>
                </a:solidFill>
                <a:latin typeface="+mn-ea"/>
              </a:rPr>
              <a:t> </a:t>
            </a:r>
            <a:r>
              <a:rPr lang="ko-KR" sz="3054" b="0" i="0" u="none" strike="noStrike" dirty="0">
                <a:solidFill>
                  <a:srgbClr val="FFFFFF"/>
                </a:solidFill>
                <a:latin typeface="+mn-ea"/>
              </a:rPr>
              <a:t>및</a:t>
            </a:r>
            <a:r>
              <a:rPr lang="en-US" sz="3054" b="0" i="0" u="none" strike="noStrike" dirty="0">
                <a:solidFill>
                  <a:srgbClr val="FFFFFF"/>
                </a:solidFill>
                <a:latin typeface="+mn-ea"/>
              </a:rPr>
              <a:t> </a:t>
            </a:r>
            <a:r>
              <a:rPr lang="ko-KR" sz="3054" b="0" i="0" u="none" strike="noStrike" dirty="0">
                <a:solidFill>
                  <a:srgbClr val="FFFFFF"/>
                </a:solidFill>
                <a:latin typeface="+mn-ea"/>
              </a:rPr>
              <a:t>로컬</a:t>
            </a:r>
            <a:r>
              <a:rPr lang="en-US" sz="3054" b="0" i="0" u="none" strike="noStrike" dirty="0">
                <a:solidFill>
                  <a:srgbClr val="FFFFFF"/>
                </a:solidFill>
                <a:latin typeface="+mn-ea"/>
              </a:rPr>
              <a:t> </a:t>
            </a:r>
            <a:r>
              <a:rPr lang="ko-KR" sz="3054" b="0" i="0" u="none" strike="noStrike" dirty="0">
                <a:solidFill>
                  <a:srgbClr val="FFFFFF"/>
                </a:solidFill>
                <a:latin typeface="+mn-ea"/>
              </a:rPr>
              <a:t>편집</a:t>
            </a:r>
            <a:r>
              <a:rPr lang="en-US" sz="3054" b="0" i="0" u="none" strike="noStrike" dirty="0">
                <a:solidFill>
                  <a:srgbClr val="FFFFFF"/>
                </a:solidFill>
                <a:latin typeface="+mn-ea"/>
              </a:rPr>
              <a:t>
Netlify: </a:t>
            </a:r>
            <a:r>
              <a:rPr lang="ko-KR" sz="3054" b="0" i="0" u="none" strike="noStrike" dirty="0">
                <a:solidFill>
                  <a:srgbClr val="FFFFFF"/>
                </a:solidFill>
                <a:latin typeface="+mn-ea"/>
              </a:rPr>
              <a:t>웹페이지</a:t>
            </a:r>
            <a:r>
              <a:rPr lang="en-US" sz="3054" b="0" i="0" u="none" strike="noStrike" dirty="0">
                <a:solidFill>
                  <a:srgbClr val="FFFFFF"/>
                </a:solidFill>
                <a:latin typeface="+mn-ea"/>
              </a:rPr>
              <a:t> </a:t>
            </a:r>
            <a:r>
              <a:rPr lang="ko-KR" sz="3054" b="0" i="0" u="none" strike="noStrike" dirty="0">
                <a:solidFill>
                  <a:srgbClr val="FFFFFF"/>
                </a:solidFill>
                <a:latin typeface="+mn-ea"/>
              </a:rPr>
              <a:t>실시간</a:t>
            </a:r>
            <a:r>
              <a:rPr lang="en-US" sz="3054" b="0" i="0" u="none" strike="noStrike" dirty="0">
                <a:solidFill>
                  <a:srgbClr val="FFFFFF"/>
                </a:solidFill>
                <a:latin typeface="+mn-ea"/>
              </a:rPr>
              <a:t> </a:t>
            </a:r>
            <a:r>
              <a:rPr lang="ko-KR" sz="3054" b="0" i="0" u="none" strike="noStrike" dirty="0">
                <a:solidFill>
                  <a:srgbClr val="FFFFFF"/>
                </a:solidFill>
                <a:latin typeface="+mn-ea"/>
              </a:rPr>
              <a:t>배포</a:t>
            </a:r>
            <a:r>
              <a:rPr lang="en-US" sz="3054" b="0" i="0" u="none" strike="noStrike" dirty="0">
                <a:solidFill>
                  <a:srgbClr val="FFFFFF"/>
                </a:solidFill>
                <a:latin typeface="+mn-ea"/>
              </a:rPr>
              <a:t> (</a:t>
            </a:r>
            <a:r>
              <a:rPr lang="ko-KR" sz="3054" b="0" i="0" u="none" strike="noStrike" dirty="0">
                <a:solidFill>
                  <a:srgbClr val="FFFFFF"/>
                </a:solidFill>
                <a:latin typeface="+mn-ea"/>
              </a:rPr>
              <a:t>무료</a:t>
            </a:r>
            <a:r>
              <a:rPr lang="en-US" sz="3054" b="0" i="0" u="none" strike="noStrike" dirty="0">
                <a:solidFill>
                  <a:srgbClr val="FFFFFF"/>
                </a:solidFill>
                <a:latin typeface="+mn-ea"/>
              </a:rPr>
              <a:t> </a:t>
            </a:r>
            <a:r>
              <a:rPr lang="ko-KR" sz="3054" b="0" i="0" u="none" strike="noStrike" dirty="0">
                <a:solidFill>
                  <a:srgbClr val="FFFFFF"/>
                </a:solidFill>
                <a:latin typeface="+mn-ea"/>
              </a:rPr>
              <a:t>호스팅</a:t>
            </a:r>
            <a:r>
              <a:rPr lang="en-US" sz="3054" b="0" i="0" u="none" strike="noStrike" dirty="0">
                <a:solidFill>
                  <a:srgbClr val="FFFFFF"/>
                </a:solidFill>
                <a:latin typeface="+mn-ea"/>
              </a:rPr>
              <a:t> </a:t>
            </a:r>
            <a:r>
              <a:rPr lang="ko-KR" sz="3054" b="0" i="0" u="none" strike="noStrike" dirty="0">
                <a:solidFill>
                  <a:srgbClr val="FFFFFF"/>
                </a:solidFill>
                <a:latin typeface="+mn-ea"/>
              </a:rPr>
              <a:t>사용</a:t>
            </a:r>
            <a:r>
              <a:rPr lang="en-US" sz="3054" b="0" i="0" u="none" strike="noStrike" dirty="0">
                <a:solidFill>
                  <a:srgbClr val="FFFFFF"/>
                </a:solidFill>
                <a:latin typeface="+mn-ea"/>
              </a:rPr>
              <a:t>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4D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0" y="0"/>
            <a:ext cx="647700" cy="990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0"/>
            <a:ext cx="6337300" cy="7086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5700" y="0"/>
            <a:ext cx="5880100" cy="70739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433800" y="0"/>
            <a:ext cx="6769100" cy="6858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700" y="7086600"/>
            <a:ext cx="6337300" cy="6527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75700" y="7073900"/>
            <a:ext cx="5880100" cy="6388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433800" y="6858000"/>
            <a:ext cx="6769100" cy="6604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4D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49800"/>
            <a:ext cx="24409400" cy="8966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0" y="0"/>
            <a:ext cx="647700" cy="990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85600" y="0"/>
            <a:ext cx="12623800" cy="137160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851400"/>
            <a:ext cx="11785600" cy="87503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11950700" y="3467100"/>
            <a:ext cx="12458700" cy="75184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ko-KR" sz="4225" b="0" i="0" u="none" strike="noStrike" dirty="0">
                <a:solidFill>
                  <a:srgbClr val="000000"/>
                </a:solidFill>
                <a:latin typeface="+mn-ea"/>
              </a:rPr>
              <a:t>이</a:t>
            </a:r>
            <a:r>
              <a:rPr lang="en-US" sz="4225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4225" b="0" i="0" u="none" strike="noStrike" dirty="0">
                <a:solidFill>
                  <a:srgbClr val="000000"/>
                </a:solidFill>
                <a:latin typeface="+mn-ea"/>
              </a:rPr>
              <a:t>코드는</a:t>
            </a:r>
            <a:r>
              <a:rPr lang="en-US" sz="4225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4225" b="0" i="0" u="none" strike="noStrike" dirty="0">
                <a:solidFill>
                  <a:srgbClr val="000000"/>
                </a:solidFill>
                <a:latin typeface="+mn-ea"/>
              </a:rPr>
              <a:t>미국</a:t>
            </a:r>
            <a:r>
              <a:rPr lang="en-US" sz="4225" b="0" i="0" u="none" strike="noStrike" dirty="0">
                <a:solidFill>
                  <a:srgbClr val="000000"/>
                </a:solidFill>
                <a:latin typeface="+mn-ea"/>
              </a:rPr>
              <a:t> AI </a:t>
            </a:r>
            <a:r>
              <a:rPr lang="ko-KR" sz="4225" b="0" i="0" u="none" strike="noStrike" dirty="0">
                <a:solidFill>
                  <a:srgbClr val="000000"/>
                </a:solidFill>
                <a:latin typeface="+mn-ea"/>
              </a:rPr>
              <a:t>섹터의</a:t>
            </a:r>
            <a:r>
              <a:rPr lang="en-US" sz="4225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4225" b="0" i="0" u="none" strike="noStrike" dirty="0">
                <a:solidFill>
                  <a:srgbClr val="000000"/>
                </a:solidFill>
                <a:latin typeface="+mn-ea"/>
              </a:rPr>
              <a:t>대표</a:t>
            </a:r>
            <a:r>
              <a:rPr lang="en-US" sz="4225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4225" b="0" i="0" u="none" strike="noStrike" dirty="0">
                <a:solidFill>
                  <a:srgbClr val="000000"/>
                </a:solidFill>
                <a:latin typeface="+mn-ea"/>
              </a:rPr>
              <a:t>종목인</a:t>
            </a:r>
            <a:r>
              <a:rPr lang="en-US" sz="4225" b="0" i="0" u="none" strike="noStrike" dirty="0">
                <a:solidFill>
                  <a:srgbClr val="000000"/>
                </a:solidFill>
                <a:latin typeface="+mn-ea"/>
              </a:rPr>
              <a:t> NVIDIA(NVDA)</a:t>
            </a:r>
            <a:r>
              <a:rPr lang="ko-KR" sz="4225" b="0" i="0" u="none" strike="noStrike" dirty="0" err="1">
                <a:solidFill>
                  <a:srgbClr val="000000"/>
                </a:solidFill>
                <a:latin typeface="+mn-ea"/>
              </a:rPr>
              <a:t>에</a:t>
            </a:r>
            <a:r>
              <a:rPr lang="en-US" sz="4225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4225" b="0" i="0" u="none" strike="noStrike" dirty="0">
                <a:solidFill>
                  <a:srgbClr val="000000"/>
                </a:solidFill>
                <a:latin typeface="+mn-ea"/>
              </a:rPr>
              <a:t>대한</a:t>
            </a:r>
            <a:r>
              <a:rPr lang="en-US" sz="4225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4225" b="0" i="0" u="none" strike="noStrike" dirty="0">
                <a:solidFill>
                  <a:srgbClr val="000000"/>
                </a:solidFill>
                <a:latin typeface="+mn-ea"/>
              </a:rPr>
              <a:t>실시간</a:t>
            </a:r>
            <a:r>
              <a:rPr lang="en-US" sz="4225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4225" b="0" i="0" u="none" strike="noStrike" dirty="0">
                <a:solidFill>
                  <a:srgbClr val="000000"/>
                </a:solidFill>
                <a:latin typeface="+mn-ea"/>
              </a:rPr>
              <a:t>차트와</a:t>
            </a:r>
            <a:r>
              <a:rPr lang="en-US" sz="4225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4225" b="0" i="0" u="none" strike="noStrike" dirty="0">
                <a:solidFill>
                  <a:srgbClr val="000000"/>
                </a:solidFill>
                <a:latin typeface="+mn-ea"/>
              </a:rPr>
              <a:t>투자</a:t>
            </a:r>
            <a:r>
              <a:rPr lang="en-US" sz="4225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4225" b="0" i="0" u="none" strike="noStrike" dirty="0">
                <a:solidFill>
                  <a:srgbClr val="000000"/>
                </a:solidFill>
                <a:latin typeface="+mn-ea"/>
              </a:rPr>
              <a:t>전략을</a:t>
            </a:r>
            <a:r>
              <a:rPr lang="en-US" sz="4225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4225" b="0" i="0" u="none" strike="noStrike" dirty="0">
                <a:solidFill>
                  <a:srgbClr val="000000"/>
                </a:solidFill>
                <a:latin typeface="+mn-ea"/>
              </a:rPr>
              <a:t>보여주는</a:t>
            </a:r>
            <a:r>
              <a:rPr lang="en-US" sz="4225" b="0" i="0" u="none" strike="noStrike" dirty="0">
                <a:solidFill>
                  <a:srgbClr val="000000"/>
                </a:solidFill>
                <a:latin typeface="+mn-ea"/>
              </a:rPr>
              <a:t> HTML </a:t>
            </a:r>
            <a:r>
              <a:rPr lang="ko-KR" sz="4225" b="0" i="0" u="none" strike="noStrike" dirty="0">
                <a:solidFill>
                  <a:srgbClr val="000000"/>
                </a:solidFill>
                <a:latin typeface="+mn-ea"/>
              </a:rPr>
              <a:t>구조입니다</a:t>
            </a:r>
            <a:r>
              <a:rPr lang="en-US" sz="4225" b="0" i="0" u="none" strike="noStrike" dirty="0">
                <a:solidFill>
                  <a:srgbClr val="000000"/>
                </a:solidFill>
                <a:latin typeface="+mn-ea"/>
              </a:rPr>
              <a:t>. </a:t>
            </a:r>
            <a:r>
              <a:rPr lang="en-US" sz="4225" b="0" i="0" u="none" strike="noStrike" dirty="0" err="1">
                <a:solidFill>
                  <a:srgbClr val="000000"/>
                </a:solidFill>
                <a:latin typeface="+mn-ea"/>
              </a:rPr>
              <a:t>TradingView</a:t>
            </a:r>
            <a:r>
              <a:rPr lang="en-US" sz="4225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4225" b="0" i="0" u="none" strike="noStrike" dirty="0">
                <a:solidFill>
                  <a:srgbClr val="000000"/>
                </a:solidFill>
                <a:latin typeface="+mn-ea"/>
              </a:rPr>
              <a:t>위젯을</a:t>
            </a:r>
            <a:r>
              <a:rPr lang="en-US" sz="4225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4225" b="0" i="0" u="none" strike="noStrike" dirty="0">
                <a:solidFill>
                  <a:srgbClr val="000000"/>
                </a:solidFill>
                <a:latin typeface="+mn-ea"/>
              </a:rPr>
              <a:t>사용하여</a:t>
            </a:r>
            <a:r>
              <a:rPr lang="en-US" sz="4225" b="0" i="0" u="none" strike="noStrike" dirty="0">
                <a:solidFill>
                  <a:srgbClr val="000000"/>
                </a:solidFill>
                <a:latin typeface="+mn-ea"/>
              </a:rPr>
              <a:t> NASDAQ:NVDA </a:t>
            </a:r>
            <a:r>
              <a:rPr lang="ko-KR" sz="4225" b="0" i="0" u="none" strike="noStrike" dirty="0">
                <a:solidFill>
                  <a:srgbClr val="000000"/>
                </a:solidFill>
                <a:latin typeface="+mn-ea"/>
              </a:rPr>
              <a:t>종목의</a:t>
            </a:r>
            <a:r>
              <a:rPr lang="en-US" sz="4225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4225" b="0" i="0" u="none" strike="noStrike" dirty="0">
                <a:solidFill>
                  <a:srgbClr val="000000"/>
                </a:solidFill>
                <a:latin typeface="+mn-ea"/>
              </a:rPr>
              <a:t>실시간</a:t>
            </a:r>
            <a:r>
              <a:rPr lang="en-US" sz="4225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4225" b="0" i="0" u="none" strike="noStrike" dirty="0">
                <a:solidFill>
                  <a:srgbClr val="000000"/>
                </a:solidFill>
                <a:latin typeface="+mn-ea"/>
              </a:rPr>
              <a:t>주가를</a:t>
            </a:r>
            <a:r>
              <a:rPr lang="en-US" sz="4225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4225" b="0" i="0" u="none" strike="noStrike" dirty="0">
                <a:solidFill>
                  <a:srgbClr val="000000"/>
                </a:solidFill>
                <a:latin typeface="+mn-ea"/>
              </a:rPr>
              <a:t>차트로</a:t>
            </a:r>
            <a:r>
              <a:rPr lang="en-US" sz="4225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4225" b="0" i="0" u="none" strike="noStrike" dirty="0">
                <a:solidFill>
                  <a:srgbClr val="000000"/>
                </a:solidFill>
                <a:latin typeface="+mn-ea"/>
              </a:rPr>
              <a:t>표시하고</a:t>
            </a:r>
            <a:r>
              <a:rPr lang="en-US" sz="4225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4225" b="0" i="0" u="none" strike="noStrike" dirty="0">
                <a:solidFill>
                  <a:srgbClr val="000000"/>
                </a:solidFill>
                <a:latin typeface="+mn-ea"/>
              </a:rPr>
              <a:t>있으며</a:t>
            </a:r>
            <a:r>
              <a:rPr lang="en-US" sz="4225" b="0" i="0" u="none" strike="noStrike" dirty="0">
                <a:solidFill>
                  <a:srgbClr val="000000"/>
                </a:solidFill>
                <a:latin typeface="+mn-ea"/>
              </a:rPr>
              <a:t>, </a:t>
            </a:r>
            <a:r>
              <a:rPr lang="ko-KR" sz="4225" b="0" i="0" u="none" strike="noStrike" dirty="0">
                <a:solidFill>
                  <a:srgbClr val="000000"/>
                </a:solidFill>
                <a:latin typeface="+mn-ea"/>
              </a:rPr>
              <a:t>한국어</a:t>
            </a:r>
            <a:r>
              <a:rPr lang="en-US" sz="4225" b="0" i="0" u="none" strike="noStrike" dirty="0">
                <a:solidFill>
                  <a:srgbClr val="000000"/>
                </a:solidFill>
                <a:latin typeface="+mn-ea"/>
              </a:rPr>
              <a:t>(locale: "ko") </a:t>
            </a:r>
            <a:r>
              <a:rPr lang="ko-KR" sz="4225" b="0" i="0" u="none" strike="noStrike" dirty="0">
                <a:solidFill>
                  <a:srgbClr val="000000"/>
                </a:solidFill>
                <a:latin typeface="+mn-ea"/>
              </a:rPr>
              <a:t>설정과</a:t>
            </a:r>
            <a:r>
              <a:rPr lang="en-US" sz="4225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4225" b="0" i="0" u="none" strike="noStrike" dirty="0">
                <a:solidFill>
                  <a:srgbClr val="000000"/>
                </a:solidFill>
                <a:latin typeface="+mn-ea"/>
              </a:rPr>
              <a:t>함께</a:t>
            </a:r>
            <a:r>
              <a:rPr lang="en-US" sz="4225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4225" b="0" i="0" u="none" strike="noStrike" dirty="0">
                <a:solidFill>
                  <a:srgbClr val="000000"/>
                </a:solidFill>
                <a:latin typeface="+mn-ea"/>
              </a:rPr>
              <a:t>차트</a:t>
            </a:r>
            <a:r>
              <a:rPr lang="en-US" sz="4225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4225" b="0" i="0" u="none" strike="noStrike" dirty="0">
                <a:solidFill>
                  <a:srgbClr val="000000"/>
                </a:solidFill>
                <a:latin typeface="+mn-ea"/>
              </a:rPr>
              <a:t>색상</a:t>
            </a:r>
            <a:r>
              <a:rPr lang="en-US" sz="4225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4225" b="0" i="0" u="none" strike="noStrike" dirty="0">
                <a:solidFill>
                  <a:srgbClr val="000000"/>
                </a:solidFill>
                <a:latin typeface="+mn-ea"/>
              </a:rPr>
              <a:t>테마는</a:t>
            </a:r>
            <a:r>
              <a:rPr lang="en-US" sz="4225" b="0" i="0" u="none" strike="noStrike" dirty="0">
                <a:solidFill>
                  <a:srgbClr val="000000"/>
                </a:solidFill>
                <a:latin typeface="+mn-ea"/>
              </a:rPr>
              <a:t> light</a:t>
            </a:r>
            <a:r>
              <a:rPr lang="ko-KR" sz="4225" b="0" i="0" u="none" strike="noStrike" dirty="0">
                <a:solidFill>
                  <a:srgbClr val="000000"/>
                </a:solidFill>
                <a:latin typeface="+mn-ea"/>
              </a:rPr>
              <a:t>로</a:t>
            </a:r>
            <a:r>
              <a:rPr lang="en-US" sz="4225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4225" b="0" i="0" u="none" strike="noStrike" dirty="0">
                <a:solidFill>
                  <a:srgbClr val="000000"/>
                </a:solidFill>
                <a:latin typeface="+mn-ea"/>
              </a:rPr>
              <a:t>지정되어</a:t>
            </a:r>
            <a:r>
              <a:rPr lang="en-US" sz="4225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4225" b="0" i="0" u="none" strike="noStrike" dirty="0">
                <a:solidFill>
                  <a:srgbClr val="000000"/>
                </a:solidFill>
                <a:latin typeface="+mn-ea"/>
              </a:rPr>
              <a:t>있습니다</a:t>
            </a:r>
            <a:r>
              <a:rPr lang="en-US" sz="4225" b="0" i="0" u="none" strike="noStrike" dirty="0">
                <a:solidFill>
                  <a:srgbClr val="000000"/>
                </a:solidFill>
                <a:latin typeface="+mn-ea"/>
              </a:rPr>
              <a:t>. </a:t>
            </a:r>
            <a:r>
              <a:rPr lang="ko-KR" sz="4225" b="0" i="0" u="none" strike="noStrike" dirty="0">
                <a:solidFill>
                  <a:srgbClr val="000000"/>
                </a:solidFill>
                <a:latin typeface="+mn-ea"/>
              </a:rPr>
              <a:t>차트</a:t>
            </a:r>
            <a:r>
              <a:rPr lang="en-US" sz="4225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4225" b="0" i="0" u="none" strike="noStrike" dirty="0">
                <a:solidFill>
                  <a:srgbClr val="000000"/>
                </a:solidFill>
                <a:latin typeface="+mn-ea"/>
              </a:rPr>
              <a:t>아래에는</a:t>
            </a:r>
            <a:r>
              <a:rPr lang="en-US" sz="4225" b="0" i="0" u="none" strike="noStrike" dirty="0">
                <a:solidFill>
                  <a:srgbClr val="000000"/>
                </a:solidFill>
                <a:latin typeface="+mn-ea"/>
              </a:rPr>
              <a:t> &lt;div class="analysis"&gt; </a:t>
            </a:r>
            <a:r>
              <a:rPr lang="ko-KR" sz="4225" b="0" i="0" u="none" strike="noStrike" dirty="0">
                <a:solidFill>
                  <a:srgbClr val="000000"/>
                </a:solidFill>
                <a:latin typeface="+mn-ea"/>
              </a:rPr>
              <a:t>영역을</a:t>
            </a:r>
            <a:r>
              <a:rPr lang="en-US" sz="4225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4225" b="0" i="0" u="none" strike="noStrike" dirty="0">
                <a:solidFill>
                  <a:srgbClr val="000000"/>
                </a:solidFill>
                <a:latin typeface="+mn-ea"/>
              </a:rPr>
              <a:t>통해</a:t>
            </a:r>
            <a:r>
              <a:rPr lang="en-US" sz="4225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4225" b="0" i="0" u="none" strike="noStrike" dirty="0">
                <a:solidFill>
                  <a:srgbClr val="000000"/>
                </a:solidFill>
                <a:latin typeface="+mn-ea"/>
              </a:rPr>
              <a:t>매수</a:t>
            </a:r>
            <a:r>
              <a:rPr lang="en-US" sz="4225" b="0" i="0" u="none" strike="noStrike" dirty="0">
                <a:solidFill>
                  <a:srgbClr val="000000"/>
                </a:solidFill>
                <a:latin typeface="+mn-ea"/>
              </a:rPr>
              <a:t>·</a:t>
            </a:r>
            <a:r>
              <a:rPr lang="ko-KR" sz="4225" b="0" i="0" u="none" strike="noStrike" dirty="0">
                <a:solidFill>
                  <a:srgbClr val="000000"/>
                </a:solidFill>
                <a:latin typeface="+mn-ea"/>
              </a:rPr>
              <a:t>매도</a:t>
            </a:r>
            <a:r>
              <a:rPr lang="en-US" sz="4225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4225" b="0" i="0" u="none" strike="noStrike" dirty="0">
                <a:solidFill>
                  <a:srgbClr val="000000"/>
                </a:solidFill>
                <a:latin typeface="+mn-ea"/>
              </a:rPr>
              <a:t>가격</a:t>
            </a:r>
            <a:r>
              <a:rPr lang="en-US" sz="4225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4225" b="0" i="0" u="none" strike="noStrike" dirty="0">
                <a:solidFill>
                  <a:srgbClr val="000000"/>
                </a:solidFill>
                <a:latin typeface="+mn-ea"/>
              </a:rPr>
              <a:t>제안</a:t>
            </a:r>
            <a:r>
              <a:rPr lang="en-US" sz="4225" b="0" i="0" u="none" strike="noStrike" dirty="0">
                <a:solidFill>
                  <a:srgbClr val="000000"/>
                </a:solidFill>
                <a:latin typeface="+mn-ea"/>
              </a:rPr>
              <a:t>, </a:t>
            </a:r>
            <a:r>
              <a:rPr lang="ko-KR" sz="4225" b="0" i="0" u="none" strike="noStrike" dirty="0">
                <a:solidFill>
                  <a:srgbClr val="000000"/>
                </a:solidFill>
                <a:latin typeface="+mn-ea"/>
              </a:rPr>
              <a:t>그리고</a:t>
            </a:r>
            <a:r>
              <a:rPr lang="en-US" sz="4225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4225" b="0" i="0" u="none" strike="noStrike" dirty="0">
                <a:solidFill>
                  <a:srgbClr val="000000"/>
                </a:solidFill>
                <a:latin typeface="+mn-ea"/>
              </a:rPr>
              <a:t>진입</a:t>
            </a:r>
            <a:r>
              <a:rPr lang="en-US" sz="4225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4225" b="0" i="0" u="none" strike="noStrike" dirty="0">
                <a:solidFill>
                  <a:srgbClr val="000000"/>
                </a:solidFill>
                <a:latin typeface="+mn-ea"/>
              </a:rPr>
              <a:t>이유를</a:t>
            </a:r>
            <a:r>
              <a:rPr lang="en-US" sz="4225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4225" b="0" i="0" u="none" strike="noStrike" dirty="0">
                <a:solidFill>
                  <a:srgbClr val="000000"/>
                </a:solidFill>
                <a:latin typeface="+mn-ea"/>
              </a:rPr>
              <a:t>분석한</a:t>
            </a:r>
            <a:r>
              <a:rPr lang="en-US" sz="4225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4225" b="0" i="0" u="none" strike="noStrike" dirty="0">
                <a:solidFill>
                  <a:srgbClr val="000000"/>
                </a:solidFill>
                <a:latin typeface="+mn-ea"/>
              </a:rPr>
              <a:t>설명이</a:t>
            </a:r>
            <a:r>
              <a:rPr lang="en-US" sz="4225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4225" b="0" i="0" u="none" strike="noStrike" dirty="0">
                <a:solidFill>
                  <a:srgbClr val="000000"/>
                </a:solidFill>
                <a:latin typeface="+mn-ea"/>
              </a:rPr>
              <a:t>제공됩니다</a:t>
            </a:r>
            <a:r>
              <a:rPr lang="en-US" sz="4225" b="0" i="0" u="none" strike="noStrike" dirty="0">
                <a:solidFill>
                  <a:srgbClr val="000000"/>
                </a:solidFill>
                <a:latin typeface="+mn-ea"/>
              </a:rPr>
              <a:t>. </a:t>
            </a:r>
            <a:r>
              <a:rPr lang="ko-KR" sz="4225" b="0" i="0" u="none" strike="noStrike" dirty="0">
                <a:solidFill>
                  <a:srgbClr val="000000"/>
                </a:solidFill>
                <a:latin typeface="+mn-ea"/>
              </a:rPr>
              <a:t>예를</a:t>
            </a:r>
            <a:r>
              <a:rPr lang="en-US" sz="4225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4225" b="0" i="0" u="none" strike="noStrike" dirty="0">
                <a:solidFill>
                  <a:srgbClr val="000000"/>
                </a:solidFill>
                <a:latin typeface="+mn-ea"/>
              </a:rPr>
              <a:t>들어</a:t>
            </a:r>
            <a:r>
              <a:rPr lang="en-US" sz="4225" b="0" i="0" u="none" strike="noStrike" dirty="0">
                <a:solidFill>
                  <a:srgbClr val="000000"/>
                </a:solidFill>
                <a:latin typeface="+mn-ea"/>
              </a:rPr>
              <a:t>, AI </a:t>
            </a:r>
            <a:r>
              <a:rPr lang="ko-KR" sz="4225" b="0" i="0" u="none" strike="noStrike" dirty="0">
                <a:solidFill>
                  <a:srgbClr val="000000"/>
                </a:solidFill>
                <a:latin typeface="+mn-ea"/>
              </a:rPr>
              <a:t>칩</a:t>
            </a:r>
            <a:r>
              <a:rPr lang="en-US" sz="4225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4225" b="0" i="0" u="none" strike="noStrike" dirty="0">
                <a:solidFill>
                  <a:srgbClr val="000000"/>
                </a:solidFill>
                <a:latin typeface="+mn-ea"/>
              </a:rPr>
              <a:t>수요</a:t>
            </a:r>
            <a:r>
              <a:rPr lang="en-US" sz="4225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4225" b="0" i="0" u="none" strike="noStrike" dirty="0">
                <a:solidFill>
                  <a:srgbClr val="000000"/>
                </a:solidFill>
                <a:latin typeface="+mn-ea"/>
              </a:rPr>
              <a:t>급증과</a:t>
            </a:r>
            <a:r>
              <a:rPr lang="en-US" sz="4225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4225" b="0" i="0" u="none" strike="noStrike" dirty="0">
                <a:solidFill>
                  <a:srgbClr val="000000"/>
                </a:solidFill>
                <a:latin typeface="+mn-ea"/>
              </a:rPr>
              <a:t>메타</a:t>
            </a:r>
            <a:r>
              <a:rPr lang="en-US" sz="4225" b="0" i="0" u="none" strike="noStrike" dirty="0">
                <a:solidFill>
                  <a:srgbClr val="000000"/>
                </a:solidFill>
                <a:latin typeface="+mn-ea"/>
              </a:rPr>
              <a:t>·</a:t>
            </a:r>
            <a:r>
              <a:rPr lang="ko-KR" sz="4225" b="0" i="0" u="none" strike="noStrike" dirty="0">
                <a:solidFill>
                  <a:srgbClr val="000000"/>
                </a:solidFill>
                <a:latin typeface="+mn-ea"/>
              </a:rPr>
              <a:t>마이크로소프트의</a:t>
            </a:r>
            <a:r>
              <a:rPr lang="en-US" sz="4225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4225" b="0" i="0" u="none" strike="noStrike" dirty="0">
                <a:solidFill>
                  <a:srgbClr val="000000"/>
                </a:solidFill>
                <a:latin typeface="+mn-ea"/>
              </a:rPr>
              <a:t>투자</a:t>
            </a:r>
            <a:r>
              <a:rPr lang="en-US" sz="4225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4225" b="0" i="0" u="none" strike="noStrike" dirty="0">
                <a:solidFill>
                  <a:srgbClr val="000000"/>
                </a:solidFill>
                <a:latin typeface="+mn-ea"/>
              </a:rPr>
              <a:t>확대가</a:t>
            </a:r>
            <a:r>
              <a:rPr lang="en-US" sz="4225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4225" b="0" i="0" u="none" strike="noStrike" dirty="0">
                <a:solidFill>
                  <a:srgbClr val="000000"/>
                </a:solidFill>
                <a:latin typeface="+mn-ea"/>
              </a:rPr>
              <a:t>매수</a:t>
            </a:r>
            <a:r>
              <a:rPr lang="en-US" sz="4225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4225" b="0" i="0" u="none" strike="noStrike" dirty="0">
                <a:solidFill>
                  <a:srgbClr val="000000"/>
                </a:solidFill>
                <a:latin typeface="+mn-ea"/>
              </a:rPr>
              <a:t>요인으로</a:t>
            </a:r>
            <a:r>
              <a:rPr lang="en-US" sz="4225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4225" b="0" i="0" u="none" strike="noStrike" dirty="0">
                <a:solidFill>
                  <a:srgbClr val="000000"/>
                </a:solidFill>
                <a:latin typeface="+mn-ea"/>
              </a:rPr>
              <a:t>분석되며</a:t>
            </a:r>
            <a:r>
              <a:rPr lang="en-US" sz="4225" b="0" i="0" u="none" strike="noStrike" dirty="0">
                <a:solidFill>
                  <a:srgbClr val="000000"/>
                </a:solidFill>
                <a:latin typeface="+mn-ea"/>
              </a:rPr>
              <a:t>, </a:t>
            </a:r>
            <a:r>
              <a:rPr lang="ko-KR" sz="4225" b="0" i="0" u="none" strike="noStrike" dirty="0">
                <a:solidFill>
                  <a:srgbClr val="000000"/>
                </a:solidFill>
                <a:latin typeface="+mn-ea"/>
              </a:rPr>
              <a:t>최근</a:t>
            </a:r>
            <a:r>
              <a:rPr lang="en-US" sz="4225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4225" b="0" i="0" u="none" strike="noStrike" dirty="0">
                <a:solidFill>
                  <a:srgbClr val="000000"/>
                </a:solidFill>
                <a:latin typeface="+mn-ea"/>
              </a:rPr>
              <a:t>고점</a:t>
            </a:r>
            <a:r>
              <a:rPr lang="en-US" sz="4225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4225" b="0" i="0" u="none" strike="noStrike" dirty="0">
                <a:solidFill>
                  <a:srgbClr val="000000"/>
                </a:solidFill>
                <a:latin typeface="+mn-ea"/>
              </a:rPr>
              <a:t>대비</a:t>
            </a:r>
            <a:r>
              <a:rPr lang="en-US" sz="4225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4225" b="0" i="0" u="none" strike="noStrike" dirty="0">
                <a:solidFill>
                  <a:srgbClr val="000000"/>
                </a:solidFill>
                <a:latin typeface="+mn-ea"/>
              </a:rPr>
              <a:t>기술적</a:t>
            </a:r>
            <a:r>
              <a:rPr lang="en-US" sz="4225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4225" b="0" i="0" u="none" strike="noStrike" dirty="0">
                <a:solidFill>
                  <a:srgbClr val="000000"/>
                </a:solidFill>
                <a:latin typeface="+mn-ea"/>
              </a:rPr>
              <a:t>눌림</a:t>
            </a:r>
            <a:r>
              <a:rPr lang="en-US" sz="4225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4225" b="0" i="0" u="none" strike="noStrike" dirty="0">
                <a:solidFill>
                  <a:srgbClr val="000000"/>
                </a:solidFill>
                <a:latin typeface="+mn-ea"/>
              </a:rPr>
              <a:t>구간에</a:t>
            </a:r>
            <a:r>
              <a:rPr lang="en-US" sz="4225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4225" b="0" i="0" u="none" strike="noStrike" dirty="0">
                <a:solidFill>
                  <a:srgbClr val="000000"/>
                </a:solidFill>
                <a:latin typeface="+mn-ea"/>
              </a:rPr>
              <a:t>진입</a:t>
            </a:r>
            <a:r>
              <a:rPr lang="en-US" sz="4225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4225" b="0" i="0" u="none" strike="noStrike" dirty="0">
                <a:solidFill>
                  <a:srgbClr val="000000"/>
                </a:solidFill>
                <a:latin typeface="+mn-ea"/>
              </a:rPr>
              <a:t>시점을</a:t>
            </a:r>
            <a:r>
              <a:rPr lang="en-US" sz="4225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4225" b="0" i="0" u="none" strike="noStrike" dirty="0">
                <a:solidFill>
                  <a:srgbClr val="000000"/>
                </a:solidFill>
                <a:latin typeface="+mn-ea"/>
              </a:rPr>
              <a:t>제시하고</a:t>
            </a:r>
            <a:r>
              <a:rPr lang="en-US" sz="4225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4225" b="0" i="0" u="none" strike="noStrike" dirty="0">
                <a:solidFill>
                  <a:srgbClr val="000000"/>
                </a:solidFill>
                <a:latin typeface="+mn-ea"/>
              </a:rPr>
              <a:t>있습니다</a:t>
            </a:r>
            <a:r>
              <a:rPr lang="en-US" sz="4225" b="0" i="0" u="none" strike="noStrike" dirty="0">
                <a:solidFill>
                  <a:srgbClr val="000000"/>
                </a:solidFill>
                <a:latin typeface="+mn-ea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4D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49800"/>
            <a:ext cx="24409400" cy="8966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0" y="0"/>
            <a:ext cx="647700" cy="990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85600" y="0"/>
            <a:ext cx="12623800" cy="137160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334000"/>
            <a:ext cx="11785600" cy="78105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11963400" y="4483100"/>
            <a:ext cx="12103100" cy="71120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ko-KR" sz="4000" b="0" i="0" u="none" strike="noStrike" dirty="0">
                <a:solidFill>
                  <a:srgbClr val="000000"/>
                </a:solidFill>
                <a:latin typeface="+mn-ea"/>
              </a:rPr>
              <a:t>이</a:t>
            </a:r>
            <a:r>
              <a:rPr lang="en-US" sz="40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4000" b="0" i="0" u="none" strike="noStrike" dirty="0">
                <a:solidFill>
                  <a:srgbClr val="000000"/>
                </a:solidFill>
                <a:latin typeface="+mn-ea"/>
              </a:rPr>
              <a:t>코드는</a:t>
            </a:r>
            <a:r>
              <a:rPr lang="en-US" sz="4000" b="0" i="0" u="none" strike="noStrike" dirty="0">
                <a:solidFill>
                  <a:srgbClr val="000000"/>
                </a:solidFill>
                <a:latin typeface="+mn-ea"/>
              </a:rPr>
              <a:t> USD/KRW, </a:t>
            </a:r>
            <a:r>
              <a:rPr lang="ko-KR" sz="4000" b="0" i="0" u="none" strike="noStrike" dirty="0">
                <a:solidFill>
                  <a:srgbClr val="000000"/>
                </a:solidFill>
                <a:latin typeface="+mn-ea"/>
              </a:rPr>
              <a:t>즉</a:t>
            </a:r>
            <a:r>
              <a:rPr lang="en-US" sz="40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4000" b="0" i="0" u="none" strike="noStrike" dirty="0">
                <a:solidFill>
                  <a:srgbClr val="000000"/>
                </a:solidFill>
                <a:latin typeface="+mn-ea"/>
              </a:rPr>
              <a:t>미국</a:t>
            </a:r>
            <a:r>
              <a:rPr lang="en-US" sz="40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4000" b="0" i="0" u="none" strike="noStrike" dirty="0">
                <a:solidFill>
                  <a:srgbClr val="000000"/>
                </a:solidFill>
                <a:latin typeface="+mn-ea"/>
              </a:rPr>
              <a:t>달러와</a:t>
            </a:r>
            <a:r>
              <a:rPr lang="en-US" sz="40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4000" b="0" i="0" u="none" strike="noStrike" dirty="0">
                <a:solidFill>
                  <a:srgbClr val="000000"/>
                </a:solidFill>
                <a:latin typeface="+mn-ea"/>
              </a:rPr>
              <a:t>한국</a:t>
            </a:r>
            <a:r>
              <a:rPr lang="en-US" sz="40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4000" b="0" i="0" u="none" strike="noStrike" dirty="0">
                <a:solidFill>
                  <a:srgbClr val="000000"/>
                </a:solidFill>
                <a:latin typeface="+mn-ea"/>
              </a:rPr>
              <a:t>원화의</a:t>
            </a:r>
            <a:r>
              <a:rPr lang="en-US" sz="40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4000" b="0" i="0" u="none" strike="noStrike" dirty="0">
                <a:solidFill>
                  <a:srgbClr val="000000"/>
                </a:solidFill>
                <a:latin typeface="+mn-ea"/>
              </a:rPr>
              <a:t>환율</a:t>
            </a:r>
            <a:r>
              <a:rPr lang="en-US" sz="40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4000" b="0" i="0" u="none" strike="noStrike" dirty="0">
                <a:solidFill>
                  <a:srgbClr val="000000"/>
                </a:solidFill>
                <a:latin typeface="+mn-ea"/>
              </a:rPr>
              <a:t>흐름을</a:t>
            </a:r>
            <a:r>
              <a:rPr lang="en-US" sz="40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4000" b="0" i="0" u="none" strike="noStrike" dirty="0">
                <a:solidFill>
                  <a:srgbClr val="000000"/>
                </a:solidFill>
                <a:latin typeface="+mn-ea"/>
              </a:rPr>
              <a:t>실시간으로</a:t>
            </a:r>
            <a:r>
              <a:rPr lang="en-US" sz="40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4000" b="0" i="0" u="none" strike="noStrike" dirty="0">
                <a:solidFill>
                  <a:srgbClr val="000000"/>
                </a:solidFill>
                <a:latin typeface="+mn-ea"/>
              </a:rPr>
              <a:t>보여주는</a:t>
            </a:r>
            <a:r>
              <a:rPr lang="en-US" sz="40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4000" b="0" i="0" u="none" strike="noStrike" dirty="0">
                <a:solidFill>
                  <a:srgbClr val="000000"/>
                </a:solidFill>
                <a:latin typeface="+mn-ea"/>
              </a:rPr>
              <a:t>차트와</a:t>
            </a:r>
            <a:r>
              <a:rPr lang="en-US" sz="40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4000" b="0" i="0" u="none" strike="noStrike" dirty="0">
                <a:solidFill>
                  <a:srgbClr val="000000"/>
                </a:solidFill>
                <a:latin typeface="+mn-ea"/>
              </a:rPr>
              <a:t>환전</a:t>
            </a:r>
            <a:r>
              <a:rPr lang="en-US" sz="40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4000" b="0" i="0" u="none" strike="noStrike" dirty="0">
                <a:solidFill>
                  <a:srgbClr val="000000"/>
                </a:solidFill>
                <a:latin typeface="+mn-ea"/>
              </a:rPr>
              <a:t>전략을</a:t>
            </a:r>
            <a:r>
              <a:rPr lang="en-US" sz="40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4000" b="0" i="0" u="none" strike="noStrike" dirty="0">
                <a:solidFill>
                  <a:srgbClr val="000000"/>
                </a:solidFill>
                <a:latin typeface="+mn-ea"/>
              </a:rPr>
              <a:t>설명하는</a:t>
            </a:r>
            <a:r>
              <a:rPr lang="en-US" sz="4000" b="0" i="0" u="none" strike="noStrike" dirty="0">
                <a:solidFill>
                  <a:srgbClr val="000000"/>
                </a:solidFill>
                <a:latin typeface="+mn-ea"/>
              </a:rPr>
              <a:t> HTML</a:t>
            </a:r>
            <a:r>
              <a:rPr lang="ko-KR" sz="4000" b="0" i="0" u="none" strike="noStrike" dirty="0">
                <a:solidFill>
                  <a:srgbClr val="000000"/>
                </a:solidFill>
                <a:latin typeface="+mn-ea"/>
              </a:rPr>
              <a:t>입니다</a:t>
            </a:r>
            <a:r>
              <a:rPr lang="en-US" sz="4000" b="0" i="0" u="none" strike="noStrike" dirty="0">
                <a:solidFill>
                  <a:srgbClr val="000000"/>
                </a:solidFill>
                <a:latin typeface="+mn-ea"/>
              </a:rPr>
              <a:t>. </a:t>
            </a:r>
            <a:r>
              <a:rPr lang="en-US" sz="4000" b="0" i="0" u="none" strike="noStrike" dirty="0" err="1">
                <a:solidFill>
                  <a:srgbClr val="000000"/>
                </a:solidFill>
                <a:latin typeface="+mn-ea"/>
              </a:rPr>
              <a:t>TradingView</a:t>
            </a:r>
            <a:r>
              <a:rPr lang="ko-KR" sz="4000" b="0" i="0" u="none" strike="noStrike" dirty="0">
                <a:solidFill>
                  <a:srgbClr val="000000"/>
                </a:solidFill>
                <a:latin typeface="+mn-ea"/>
              </a:rPr>
              <a:t>의</a:t>
            </a:r>
            <a:r>
              <a:rPr lang="en-US" sz="40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4000" b="0" i="0" u="none" strike="noStrike" dirty="0">
                <a:solidFill>
                  <a:srgbClr val="000000"/>
                </a:solidFill>
                <a:latin typeface="+mn-ea"/>
              </a:rPr>
              <a:t>위젯</a:t>
            </a:r>
            <a:r>
              <a:rPr lang="en-US" sz="40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4000" b="0" i="0" u="none" strike="noStrike" dirty="0">
                <a:solidFill>
                  <a:srgbClr val="000000"/>
                </a:solidFill>
                <a:latin typeface="+mn-ea"/>
              </a:rPr>
              <a:t>기능을</a:t>
            </a:r>
            <a:r>
              <a:rPr lang="en-US" sz="40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4000" b="0" i="0" u="none" strike="noStrike" dirty="0">
                <a:solidFill>
                  <a:srgbClr val="000000"/>
                </a:solidFill>
                <a:latin typeface="+mn-ea"/>
              </a:rPr>
              <a:t>통해</a:t>
            </a:r>
            <a:r>
              <a:rPr lang="en-US" sz="4000" b="0" i="0" u="none" strike="noStrike" dirty="0">
                <a:solidFill>
                  <a:srgbClr val="000000"/>
                </a:solidFill>
                <a:latin typeface="+mn-ea"/>
              </a:rPr>
              <a:t> FX_IDC:USDKRW </a:t>
            </a:r>
            <a:r>
              <a:rPr lang="ko-KR" sz="4000" b="0" i="0" u="none" strike="noStrike" dirty="0">
                <a:solidFill>
                  <a:srgbClr val="000000"/>
                </a:solidFill>
                <a:latin typeface="+mn-ea"/>
              </a:rPr>
              <a:t>종목을</a:t>
            </a:r>
            <a:r>
              <a:rPr lang="en-US" sz="40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4000" b="0" i="0" u="none" strike="noStrike" dirty="0">
                <a:solidFill>
                  <a:srgbClr val="000000"/>
                </a:solidFill>
                <a:latin typeface="+mn-ea"/>
              </a:rPr>
              <a:t>호출하고</a:t>
            </a:r>
            <a:r>
              <a:rPr lang="en-US" sz="4000" b="0" i="0" u="none" strike="noStrike" dirty="0">
                <a:solidFill>
                  <a:srgbClr val="000000"/>
                </a:solidFill>
                <a:latin typeface="+mn-ea"/>
              </a:rPr>
              <a:t>, 450</a:t>
            </a:r>
            <a:r>
              <a:rPr lang="ko-KR" sz="4000" b="0" i="0" u="none" strike="noStrike" dirty="0">
                <a:solidFill>
                  <a:srgbClr val="000000"/>
                </a:solidFill>
                <a:latin typeface="+mn-ea"/>
              </a:rPr>
              <a:t>픽셀</a:t>
            </a:r>
            <a:r>
              <a:rPr lang="en-US" sz="40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4000" b="0" i="0" u="none" strike="noStrike" dirty="0">
                <a:solidFill>
                  <a:srgbClr val="000000"/>
                </a:solidFill>
                <a:latin typeface="+mn-ea"/>
              </a:rPr>
              <a:t>높이의</a:t>
            </a:r>
            <a:r>
              <a:rPr lang="en-US" sz="40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4000" b="0" i="0" u="none" strike="noStrike" dirty="0">
                <a:solidFill>
                  <a:srgbClr val="000000"/>
                </a:solidFill>
                <a:latin typeface="+mn-ea"/>
              </a:rPr>
              <a:t>환율</a:t>
            </a:r>
            <a:r>
              <a:rPr lang="en-US" sz="40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4000" b="0" i="0" u="none" strike="noStrike" dirty="0">
                <a:solidFill>
                  <a:srgbClr val="000000"/>
                </a:solidFill>
                <a:latin typeface="+mn-ea"/>
              </a:rPr>
              <a:t>차트를</a:t>
            </a:r>
            <a:r>
              <a:rPr lang="en-US" sz="40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4000" b="0" i="0" u="none" strike="noStrike" dirty="0">
                <a:solidFill>
                  <a:srgbClr val="000000"/>
                </a:solidFill>
                <a:latin typeface="+mn-ea"/>
              </a:rPr>
              <a:t>삽입하였습니다</a:t>
            </a:r>
            <a:r>
              <a:rPr lang="en-US" sz="4000" b="0" i="0" u="none" strike="noStrike" dirty="0">
                <a:solidFill>
                  <a:srgbClr val="000000"/>
                </a:solidFill>
                <a:latin typeface="+mn-ea"/>
              </a:rPr>
              <a:t>. </a:t>
            </a:r>
            <a:r>
              <a:rPr lang="ko-KR" sz="4000" b="0" i="0" u="none" strike="noStrike" dirty="0">
                <a:solidFill>
                  <a:srgbClr val="000000"/>
                </a:solidFill>
                <a:latin typeface="+mn-ea"/>
              </a:rPr>
              <a:t>차트</a:t>
            </a:r>
            <a:r>
              <a:rPr lang="en-US" sz="40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4000" b="0" i="0" u="none" strike="noStrike" dirty="0">
                <a:solidFill>
                  <a:srgbClr val="000000"/>
                </a:solidFill>
                <a:latin typeface="+mn-ea"/>
              </a:rPr>
              <a:t>아래</a:t>
            </a:r>
            <a:r>
              <a:rPr lang="en-US" sz="40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4000" b="0" i="0" u="none" strike="noStrike" dirty="0">
                <a:solidFill>
                  <a:srgbClr val="000000"/>
                </a:solidFill>
                <a:latin typeface="+mn-ea"/>
              </a:rPr>
              <a:t>분석</a:t>
            </a:r>
            <a:r>
              <a:rPr lang="en-US" sz="40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4000" b="0" i="0" u="none" strike="noStrike" dirty="0">
                <a:solidFill>
                  <a:srgbClr val="000000"/>
                </a:solidFill>
                <a:latin typeface="+mn-ea"/>
              </a:rPr>
              <a:t>영역에서는</a:t>
            </a:r>
            <a:r>
              <a:rPr lang="en-US" sz="40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4000" b="0" i="0" u="none" strike="noStrike" dirty="0">
                <a:solidFill>
                  <a:srgbClr val="000000"/>
                </a:solidFill>
                <a:latin typeface="+mn-ea"/>
              </a:rPr>
              <a:t>현재</a:t>
            </a:r>
            <a:r>
              <a:rPr lang="en-US" sz="40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4000" b="0" i="0" u="none" strike="noStrike" dirty="0">
                <a:solidFill>
                  <a:srgbClr val="000000"/>
                </a:solidFill>
                <a:latin typeface="+mn-ea"/>
              </a:rPr>
              <a:t>환율이</a:t>
            </a:r>
            <a:r>
              <a:rPr lang="en-US" sz="40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4000" b="0" i="0" u="none" strike="noStrike" dirty="0">
                <a:solidFill>
                  <a:srgbClr val="000000"/>
                </a:solidFill>
                <a:latin typeface="+mn-ea"/>
              </a:rPr>
              <a:t>약</a:t>
            </a:r>
            <a:r>
              <a:rPr lang="en-US" sz="4000" b="0" i="0" u="none" strike="noStrike" dirty="0">
                <a:solidFill>
                  <a:srgbClr val="000000"/>
                </a:solidFill>
                <a:latin typeface="+mn-ea"/>
              </a:rPr>
              <a:t> 1,468</a:t>
            </a:r>
            <a:r>
              <a:rPr lang="ko-KR" sz="4000" b="0" i="0" u="none" strike="noStrike" dirty="0">
                <a:solidFill>
                  <a:srgbClr val="000000"/>
                </a:solidFill>
                <a:latin typeface="+mn-ea"/>
              </a:rPr>
              <a:t>원</a:t>
            </a:r>
            <a:r>
              <a:rPr lang="en-US" sz="40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4000" b="0" i="0" u="none" strike="noStrike" dirty="0">
                <a:solidFill>
                  <a:srgbClr val="000000"/>
                </a:solidFill>
                <a:latin typeface="+mn-ea"/>
              </a:rPr>
              <a:t>수준임을</a:t>
            </a:r>
            <a:r>
              <a:rPr lang="en-US" sz="40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4000" b="0" i="0" u="none" strike="noStrike" dirty="0">
                <a:solidFill>
                  <a:srgbClr val="000000"/>
                </a:solidFill>
                <a:latin typeface="+mn-ea"/>
              </a:rPr>
              <a:t>제시하며</a:t>
            </a:r>
            <a:r>
              <a:rPr lang="en-US" sz="4000" b="0" i="0" u="none" strike="noStrike" dirty="0">
                <a:solidFill>
                  <a:srgbClr val="000000"/>
                </a:solidFill>
                <a:latin typeface="+mn-ea"/>
              </a:rPr>
              <a:t>, 1,450~1,470</a:t>
            </a:r>
            <a:r>
              <a:rPr lang="ko-KR" sz="4000" b="0" i="0" u="none" strike="noStrike" dirty="0">
                <a:solidFill>
                  <a:srgbClr val="000000"/>
                </a:solidFill>
                <a:latin typeface="+mn-ea"/>
              </a:rPr>
              <a:t>원</a:t>
            </a:r>
            <a:r>
              <a:rPr lang="en-US" sz="40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4000" b="0" i="0" u="none" strike="noStrike" dirty="0">
                <a:solidFill>
                  <a:srgbClr val="000000"/>
                </a:solidFill>
                <a:latin typeface="+mn-ea"/>
              </a:rPr>
              <a:t>구간에서는</a:t>
            </a:r>
            <a:r>
              <a:rPr lang="en-US" sz="40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4000" b="0" i="0" u="none" strike="noStrike" dirty="0">
                <a:solidFill>
                  <a:srgbClr val="000000"/>
                </a:solidFill>
                <a:latin typeface="+mn-ea"/>
              </a:rPr>
              <a:t>분할</a:t>
            </a:r>
            <a:r>
              <a:rPr lang="en-US" sz="40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4000" b="0" i="0" u="none" strike="noStrike" dirty="0">
                <a:solidFill>
                  <a:srgbClr val="000000"/>
                </a:solidFill>
                <a:latin typeface="+mn-ea"/>
              </a:rPr>
              <a:t>환전</a:t>
            </a:r>
            <a:r>
              <a:rPr lang="en-US" sz="40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4000" b="0" i="0" u="none" strike="noStrike" dirty="0">
                <a:solidFill>
                  <a:srgbClr val="000000"/>
                </a:solidFill>
                <a:latin typeface="+mn-ea"/>
              </a:rPr>
              <a:t>매수를</a:t>
            </a:r>
            <a:r>
              <a:rPr lang="en-US" sz="40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4000" b="0" i="0" u="none" strike="noStrike" dirty="0">
                <a:solidFill>
                  <a:srgbClr val="000000"/>
                </a:solidFill>
                <a:latin typeface="+mn-ea"/>
              </a:rPr>
              <a:t>고려할</a:t>
            </a:r>
            <a:r>
              <a:rPr lang="en-US" sz="40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4000" b="0" i="0" u="none" strike="noStrike" dirty="0">
                <a:solidFill>
                  <a:srgbClr val="000000"/>
                </a:solidFill>
                <a:latin typeface="+mn-ea"/>
              </a:rPr>
              <a:t>수</a:t>
            </a:r>
            <a:r>
              <a:rPr lang="en-US" sz="40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4000" b="0" i="0" u="none" strike="noStrike" dirty="0">
                <a:solidFill>
                  <a:srgbClr val="000000"/>
                </a:solidFill>
                <a:latin typeface="+mn-ea"/>
              </a:rPr>
              <a:t>있다는</a:t>
            </a:r>
            <a:r>
              <a:rPr lang="en-US" sz="40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4000" b="0" i="0" u="none" strike="noStrike" dirty="0">
                <a:solidFill>
                  <a:srgbClr val="000000"/>
                </a:solidFill>
                <a:latin typeface="+mn-ea"/>
              </a:rPr>
              <a:t>전략을</a:t>
            </a:r>
            <a:r>
              <a:rPr lang="en-US" sz="40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4000" b="0" i="0" u="none" strike="noStrike" dirty="0">
                <a:solidFill>
                  <a:srgbClr val="000000"/>
                </a:solidFill>
                <a:latin typeface="+mn-ea"/>
              </a:rPr>
              <a:t>제시합니다</a:t>
            </a:r>
            <a:r>
              <a:rPr lang="en-US" sz="4000" b="0" i="0" u="none" strike="noStrike" dirty="0">
                <a:solidFill>
                  <a:srgbClr val="000000"/>
                </a:solidFill>
                <a:latin typeface="+mn-ea"/>
              </a:rPr>
              <a:t>. </a:t>
            </a:r>
            <a:r>
              <a:rPr lang="ko-KR" sz="4000" b="0" i="0" u="none" strike="noStrike" dirty="0">
                <a:solidFill>
                  <a:srgbClr val="000000"/>
                </a:solidFill>
                <a:latin typeface="+mn-ea"/>
              </a:rPr>
              <a:t>또</a:t>
            </a:r>
            <a:r>
              <a:rPr lang="en-US" sz="4000" b="0" i="0" u="none" strike="noStrike" dirty="0">
                <a:solidFill>
                  <a:srgbClr val="000000"/>
                </a:solidFill>
                <a:latin typeface="+mn-ea"/>
              </a:rPr>
              <a:t> CPI </a:t>
            </a:r>
            <a:r>
              <a:rPr lang="ko-KR" sz="4000" b="0" i="0" u="none" strike="noStrike" dirty="0">
                <a:solidFill>
                  <a:srgbClr val="000000"/>
                </a:solidFill>
                <a:latin typeface="+mn-ea"/>
              </a:rPr>
              <a:t>둔화와</a:t>
            </a:r>
            <a:r>
              <a:rPr lang="en-US" sz="40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4000" b="0" i="0" u="none" strike="noStrike" dirty="0">
                <a:solidFill>
                  <a:srgbClr val="000000"/>
                </a:solidFill>
                <a:latin typeface="+mn-ea"/>
              </a:rPr>
              <a:t>금리</a:t>
            </a:r>
            <a:r>
              <a:rPr lang="en-US" sz="40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4000" b="0" i="0" u="none" strike="noStrike" dirty="0">
                <a:solidFill>
                  <a:srgbClr val="000000"/>
                </a:solidFill>
                <a:latin typeface="+mn-ea"/>
              </a:rPr>
              <a:t>인하</a:t>
            </a:r>
            <a:r>
              <a:rPr lang="en-US" sz="40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4000" b="0" i="0" u="none" strike="noStrike" dirty="0">
                <a:solidFill>
                  <a:srgbClr val="000000"/>
                </a:solidFill>
                <a:latin typeface="+mn-ea"/>
              </a:rPr>
              <a:t>기대감이</a:t>
            </a:r>
            <a:r>
              <a:rPr lang="en-US" sz="40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4000" b="0" i="0" u="none" strike="noStrike" dirty="0">
                <a:solidFill>
                  <a:srgbClr val="000000"/>
                </a:solidFill>
                <a:latin typeface="+mn-ea"/>
              </a:rPr>
              <a:t>원화</a:t>
            </a:r>
            <a:r>
              <a:rPr lang="en-US" sz="40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4000" b="0" i="0" u="none" strike="noStrike" dirty="0">
                <a:solidFill>
                  <a:srgbClr val="000000"/>
                </a:solidFill>
                <a:latin typeface="+mn-ea"/>
              </a:rPr>
              <a:t>강세</a:t>
            </a:r>
            <a:r>
              <a:rPr lang="en-US" sz="40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4000" b="0" i="0" u="none" strike="noStrike" dirty="0">
                <a:solidFill>
                  <a:srgbClr val="000000"/>
                </a:solidFill>
                <a:latin typeface="+mn-ea"/>
              </a:rPr>
              <a:t>전환</a:t>
            </a:r>
            <a:r>
              <a:rPr lang="en-US" sz="40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4000" b="0" i="0" u="none" strike="noStrike" dirty="0">
                <a:solidFill>
                  <a:srgbClr val="000000"/>
                </a:solidFill>
                <a:latin typeface="+mn-ea"/>
              </a:rPr>
              <a:t>가능성으로</a:t>
            </a:r>
            <a:r>
              <a:rPr lang="en-US" sz="40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4000" b="0" i="0" u="none" strike="noStrike" dirty="0">
                <a:solidFill>
                  <a:srgbClr val="000000"/>
                </a:solidFill>
                <a:latin typeface="+mn-ea"/>
              </a:rPr>
              <a:t>이어질</a:t>
            </a:r>
            <a:r>
              <a:rPr lang="en-US" sz="40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4000" b="0" i="0" u="none" strike="noStrike" dirty="0">
                <a:solidFill>
                  <a:srgbClr val="000000"/>
                </a:solidFill>
                <a:latin typeface="+mn-ea"/>
              </a:rPr>
              <a:t>수</a:t>
            </a:r>
            <a:r>
              <a:rPr lang="en-US" sz="40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4000" b="0" i="0" u="none" strike="noStrike" dirty="0">
                <a:solidFill>
                  <a:srgbClr val="000000"/>
                </a:solidFill>
                <a:latin typeface="+mn-ea"/>
              </a:rPr>
              <a:t>있다는</a:t>
            </a:r>
            <a:r>
              <a:rPr lang="en-US" sz="40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4000" b="0" i="0" u="none" strike="noStrike" dirty="0">
                <a:solidFill>
                  <a:srgbClr val="000000"/>
                </a:solidFill>
                <a:latin typeface="+mn-ea"/>
              </a:rPr>
              <a:t>점을</a:t>
            </a:r>
            <a:r>
              <a:rPr lang="en-US" sz="4000" b="0" i="0" u="none" strike="noStrike" dirty="0">
                <a:solidFill>
                  <a:srgbClr val="000000"/>
                </a:solidFill>
                <a:latin typeface="+mn-ea"/>
              </a:rPr>
              <a:t> AI</a:t>
            </a:r>
            <a:r>
              <a:rPr lang="ko-KR" sz="4000" b="0" i="0" u="none" strike="noStrike" dirty="0">
                <a:solidFill>
                  <a:srgbClr val="000000"/>
                </a:solidFill>
                <a:latin typeface="+mn-ea"/>
              </a:rPr>
              <a:t>가</a:t>
            </a:r>
            <a:r>
              <a:rPr lang="en-US" sz="40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4000" b="0" i="0" u="none" strike="noStrike" dirty="0">
                <a:solidFill>
                  <a:srgbClr val="000000"/>
                </a:solidFill>
                <a:latin typeface="+mn-ea"/>
              </a:rPr>
              <a:t>해석한</a:t>
            </a:r>
            <a:r>
              <a:rPr lang="en-US" sz="40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4000" b="0" i="0" u="none" strike="noStrike" dirty="0">
                <a:solidFill>
                  <a:srgbClr val="000000"/>
                </a:solidFill>
                <a:latin typeface="+mn-ea"/>
              </a:rPr>
              <a:t>의견으로</a:t>
            </a:r>
            <a:r>
              <a:rPr lang="en-US" sz="40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4000" b="0" i="0" u="none" strike="noStrike" dirty="0">
                <a:solidFill>
                  <a:srgbClr val="000000"/>
                </a:solidFill>
                <a:latin typeface="+mn-ea"/>
              </a:rPr>
              <a:t>제공합니다</a:t>
            </a:r>
            <a:r>
              <a:rPr lang="en-US" sz="4000" b="0" i="0" u="none" strike="noStrike" dirty="0">
                <a:solidFill>
                  <a:srgbClr val="000000"/>
                </a:solidFill>
                <a:latin typeface="+mn-ea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4D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49800"/>
            <a:ext cx="24409400" cy="8966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0" y="0"/>
            <a:ext cx="647700" cy="990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85600" y="0"/>
            <a:ext cx="12623800" cy="137160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5803900"/>
            <a:ext cx="11772900" cy="69469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11950700" y="5207000"/>
            <a:ext cx="12446000" cy="71120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ko-KR" sz="4000" b="0" i="0" u="none" strike="noStrike" dirty="0">
                <a:solidFill>
                  <a:srgbClr val="000000"/>
                </a:solidFill>
                <a:latin typeface="+mn-ea"/>
              </a:rPr>
              <a:t>이</a:t>
            </a:r>
            <a:r>
              <a:rPr lang="en-US" sz="40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4000" b="0" i="0" u="none" strike="noStrike" dirty="0">
                <a:solidFill>
                  <a:srgbClr val="000000"/>
                </a:solidFill>
                <a:latin typeface="+mn-ea"/>
              </a:rPr>
              <a:t>코드는</a:t>
            </a:r>
            <a:r>
              <a:rPr lang="en-US" sz="40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4000" b="0" i="0" u="none" strike="noStrike" dirty="0">
                <a:solidFill>
                  <a:srgbClr val="000000"/>
                </a:solidFill>
                <a:latin typeface="+mn-ea"/>
              </a:rPr>
              <a:t>최근</a:t>
            </a:r>
            <a:r>
              <a:rPr lang="en-US" sz="40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4000" b="0" i="0" u="none" strike="noStrike" dirty="0">
                <a:solidFill>
                  <a:srgbClr val="000000"/>
                </a:solidFill>
                <a:latin typeface="+mn-ea"/>
              </a:rPr>
              <a:t>발표된</a:t>
            </a:r>
            <a:r>
              <a:rPr lang="en-US" sz="40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4000" b="0" i="0" u="none" strike="noStrike" dirty="0">
                <a:solidFill>
                  <a:srgbClr val="000000"/>
                </a:solidFill>
                <a:latin typeface="+mn-ea"/>
              </a:rPr>
              <a:t>경제</a:t>
            </a:r>
            <a:r>
              <a:rPr lang="en-US" sz="40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4000" b="0" i="0" u="none" strike="noStrike" dirty="0">
                <a:solidFill>
                  <a:srgbClr val="000000"/>
                </a:solidFill>
                <a:latin typeface="+mn-ea"/>
              </a:rPr>
              <a:t>뉴스들을</a:t>
            </a:r>
            <a:r>
              <a:rPr lang="en-US" sz="40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4000" b="0" i="0" u="none" strike="noStrike" dirty="0">
                <a:solidFill>
                  <a:srgbClr val="000000"/>
                </a:solidFill>
                <a:latin typeface="+mn-ea"/>
              </a:rPr>
              <a:t>정리하고</a:t>
            </a:r>
            <a:r>
              <a:rPr lang="en-US" sz="4000" b="0" i="0" u="none" strike="noStrike" dirty="0">
                <a:solidFill>
                  <a:srgbClr val="000000"/>
                </a:solidFill>
                <a:latin typeface="+mn-ea"/>
              </a:rPr>
              <a:t>, </a:t>
            </a:r>
            <a:r>
              <a:rPr lang="ko-KR" sz="4000" b="0" i="0" u="none" strike="noStrike" dirty="0">
                <a:solidFill>
                  <a:srgbClr val="000000"/>
                </a:solidFill>
                <a:latin typeface="+mn-ea"/>
              </a:rPr>
              <a:t>이에</a:t>
            </a:r>
            <a:r>
              <a:rPr lang="en-US" sz="40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4000" b="0" i="0" u="none" strike="noStrike" dirty="0">
                <a:solidFill>
                  <a:srgbClr val="000000"/>
                </a:solidFill>
                <a:latin typeface="+mn-ea"/>
              </a:rPr>
              <a:t>대한</a:t>
            </a:r>
            <a:r>
              <a:rPr lang="en-US" sz="4000" b="0" i="0" u="none" strike="noStrike" dirty="0">
                <a:solidFill>
                  <a:srgbClr val="000000"/>
                </a:solidFill>
                <a:latin typeface="+mn-ea"/>
              </a:rPr>
              <a:t> AI </a:t>
            </a:r>
            <a:r>
              <a:rPr lang="ko-KR" sz="4000" b="0" i="0" u="none" strike="noStrike" dirty="0">
                <a:solidFill>
                  <a:srgbClr val="000000"/>
                </a:solidFill>
                <a:latin typeface="+mn-ea"/>
              </a:rPr>
              <a:t>기반</a:t>
            </a:r>
            <a:r>
              <a:rPr lang="en-US" sz="40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4000" b="0" i="0" u="none" strike="noStrike" dirty="0">
                <a:solidFill>
                  <a:srgbClr val="000000"/>
                </a:solidFill>
                <a:latin typeface="+mn-ea"/>
              </a:rPr>
              <a:t>시장</a:t>
            </a:r>
            <a:r>
              <a:rPr lang="en-US" sz="40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4000" b="0" i="0" u="none" strike="noStrike" dirty="0">
                <a:solidFill>
                  <a:srgbClr val="000000"/>
                </a:solidFill>
                <a:latin typeface="+mn-ea"/>
              </a:rPr>
              <a:t>해석을</a:t>
            </a:r>
            <a:r>
              <a:rPr lang="en-US" sz="40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4000" b="0" i="0" u="none" strike="noStrike" dirty="0">
                <a:solidFill>
                  <a:srgbClr val="000000"/>
                </a:solidFill>
                <a:latin typeface="+mn-ea"/>
              </a:rPr>
              <a:t>제시하는</a:t>
            </a:r>
            <a:r>
              <a:rPr lang="en-US" sz="4000" b="0" i="0" u="none" strike="noStrike" dirty="0">
                <a:solidFill>
                  <a:srgbClr val="000000"/>
                </a:solidFill>
                <a:latin typeface="+mn-ea"/>
              </a:rPr>
              <a:t> HTML</a:t>
            </a:r>
            <a:r>
              <a:rPr lang="ko-KR" sz="4000" b="0" i="0" u="none" strike="noStrike" dirty="0">
                <a:solidFill>
                  <a:srgbClr val="000000"/>
                </a:solidFill>
                <a:latin typeface="+mn-ea"/>
              </a:rPr>
              <a:t>입니다</a:t>
            </a:r>
            <a:r>
              <a:rPr lang="en-US" sz="4000" b="0" i="0" u="none" strike="noStrike" dirty="0">
                <a:solidFill>
                  <a:srgbClr val="000000"/>
                </a:solidFill>
                <a:latin typeface="+mn-ea"/>
              </a:rPr>
              <a:t>. &lt;ul&gt; </a:t>
            </a:r>
            <a:r>
              <a:rPr lang="ko-KR" sz="4000" b="0" i="0" u="none" strike="noStrike" dirty="0">
                <a:solidFill>
                  <a:srgbClr val="000000"/>
                </a:solidFill>
                <a:latin typeface="+mn-ea"/>
              </a:rPr>
              <a:t>태그를</a:t>
            </a:r>
            <a:r>
              <a:rPr lang="en-US" sz="40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4000" b="0" i="0" u="none" strike="noStrike" dirty="0">
                <a:solidFill>
                  <a:srgbClr val="000000"/>
                </a:solidFill>
                <a:latin typeface="+mn-ea"/>
              </a:rPr>
              <a:t>사용하여</a:t>
            </a:r>
            <a:r>
              <a:rPr lang="en-US" sz="4000" b="0" i="0" u="none" strike="noStrike" dirty="0">
                <a:solidFill>
                  <a:srgbClr val="000000"/>
                </a:solidFill>
                <a:latin typeface="+mn-ea"/>
              </a:rPr>
              <a:t> 12</a:t>
            </a:r>
            <a:r>
              <a:rPr lang="ko-KR" sz="4000" b="0" i="0" u="none" strike="noStrike" dirty="0">
                <a:solidFill>
                  <a:srgbClr val="000000"/>
                </a:solidFill>
                <a:latin typeface="+mn-ea"/>
              </a:rPr>
              <a:t>월</a:t>
            </a:r>
            <a:r>
              <a:rPr lang="en-US" sz="4000" b="0" i="0" u="none" strike="noStrike" dirty="0">
                <a:solidFill>
                  <a:srgbClr val="000000"/>
                </a:solidFill>
                <a:latin typeface="+mn-ea"/>
              </a:rPr>
              <a:t> CPI </a:t>
            </a:r>
            <a:r>
              <a:rPr lang="ko-KR" sz="4000" b="0" i="0" u="none" strike="noStrike" dirty="0">
                <a:solidFill>
                  <a:srgbClr val="000000"/>
                </a:solidFill>
                <a:latin typeface="+mn-ea"/>
              </a:rPr>
              <a:t>발표</a:t>
            </a:r>
            <a:r>
              <a:rPr lang="en-US" sz="4000" b="0" i="0" u="none" strike="noStrike" dirty="0">
                <a:solidFill>
                  <a:srgbClr val="000000"/>
                </a:solidFill>
                <a:latin typeface="+mn-ea"/>
              </a:rPr>
              <a:t>, 12</a:t>
            </a:r>
            <a:r>
              <a:rPr lang="ko-KR" sz="4000" b="0" i="0" u="none" strike="noStrike" dirty="0">
                <a:solidFill>
                  <a:srgbClr val="000000"/>
                </a:solidFill>
                <a:latin typeface="+mn-ea"/>
              </a:rPr>
              <a:t>월</a:t>
            </a:r>
            <a:r>
              <a:rPr lang="en-US" sz="4000" b="0" i="0" u="none" strike="noStrike" dirty="0">
                <a:solidFill>
                  <a:srgbClr val="000000"/>
                </a:solidFill>
                <a:latin typeface="+mn-ea"/>
              </a:rPr>
              <a:t> FOMC </a:t>
            </a:r>
            <a:r>
              <a:rPr lang="ko-KR" sz="4000" b="0" i="0" u="none" strike="noStrike" dirty="0">
                <a:solidFill>
                  <a:srgbClr val="000000"/>
                </a:solidFill>
                <a:latin typeface="+mn-ea"/>
              </a:rPr>
              <a:t>회의</a:t>
            </a:r>
            <a:r>
              <a:rPr lang="en-US" sz="40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4000" b="0" i="0" u="none" strike="noStrike" dirty="0">
                <a:solidFill>
                  <a:srgbClr val="000000"/>
                </a:solidFill>
                <a:latin typeface="+mn-ea"/>
              </a:rPr>
              <a:t>전망</a:t>
            </a:r>
            <a:r>
              <a:rPr lang="en-US" sz="4000" b="0" i="0" u="none" strike="noStrike" dirty="0">
                <a:solidFill>
                  <a:srgbClr val="000000"/>
                </a:solidFill>
                <a:latin typeface="+mn-ea"/>
              </a:rPr>
              <a:t>, </a:t>
            </a:r>
            <a:r>
              <a:rPr lang="ko-KR" sz="4000" b="0" i="0" u="none" strike="noStrike" dirty="0">
                <a:solidFill>
                  <a:srgbClr val="000000"/>
                </a:solidFill>
                <a:latin typeface="+mn-ea"/>
              </a:rPr>
              <a:t>환율</a:t>
            </a:r>
            <a:r>
              <a:rPr lang="en-US" sz="40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4000" b="0" i="0" u="none" strike="noStrike" dirty="0">
                <a:solidFill>
                  <a:srgbClr val="000000"/>
                </a:solidFill>
                <a:latin typeface="+mn-ea"/>
              </a:rPr>
              <a:t>안정</a:t>
            </a:r>
            <a:r>
              <a:rPr lang="en-US" sz="40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4000" b="0" i="0" u="none" strike="noStrike" dirty="0">
                <a:solidFill>
                  <a:srgbClr val="000000"/>
                </a:solidFill>
                <a:latin typeface="+mn-ea"/>
              </a:rPr>
              <a:t>관련</a:t>
            </a:r>
            <a:r>
              <a:rPr lang="en-US" sz="40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4000" b="0" i="0" u="none" strike="noStrike" dirty="0">
                <a:solidFill>
                  <a:srgbClr val="000000"/>
                </a:solidFill>
                <a:latin typeface="+mn-ea"/>
              </a:rPr>
              <a:t>기사들을</a:t>
            </a:r>
            <a:r>
              <a:rPr lang="en-US" sz="40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4000" b="0" i="0" u="none" strike="noStrike" dirty="0">
                <a:solidFill>
                  <a:srgbClr val="000000"/>
                </a:solidFill>
                <a:latin typeface="+mn-ea"/>
              </a:rPr>
              <a:t>요약해</a:t>
            </a:r>
            <a:r>
              <a:rPr lang="en-US" sz="40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4000" b="0" i="0" u="none" strike="noStrike" dirty="0">
                <a:solidFill>
                  <a:srgbClr val="000000"/>
                </a:solidFill>
                <a:latin typeface="+mn-ea"/>
              </a:rPr>
              <a:t>보여주며</a:t>
            </a:r>
            <a:r>
              <a:rPr lang="en-US" sz="4000" b="0" i="0" u="none" strike="noStrike" dirty="0">
                <a:solidFill>
                  <a:srgbClr val="000000"/>
                </a:solidFill>
                <a:latin typeface="+mn-ea"/>
              </a:rPr>
              <a:t>, </a:t>
            </a:r>
            <a:r>
              <a:rPr lang="ko-KR" sz="4000" b="0" i="0" u="none" strike="noStrike" dirty="0">
                <a:solidFill>
                  <a:srgbClr val="000000"/>
                </a:solidFill>
                <a:latin typeface="+mn-ea"/>
              </a:rPr>
              <a:t>각</a:t>
            </a:r>
            <a:r>
              <a:rPr lang="en-US" sz="40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4000" b="0" i="0" u="none" strike="noStrike" dirty="0">
                <a:solidFill>
                  <a:srgbClr val="000000"/>
                </a:solidFill>
                <a:latin typeface="+mn-ea"/>
              </a:rPr>
              <a:t>항목은</a:t>
            </a:r>
            <a:r>
              <a:rPr lang="en-US" sz="4000" b="0" i="0" u="none" strike="noStrike" dirty="0">
                <a:solidFill>
                  <a:srgbClr val="000000"/>
                </a:solidFill>
                <a:latin typeface="+mn-ea"/>
              </a:rPr>
              <a:t> [</a:t>
            </a:r>
            <a:r>
              <a:rPr lang="ko-KR" sz="4000" b="0" i="0" u="none" strike="noStrike" dirty="0">
                <a:solidFill>
                  <a:srgbClr val="000000"/>
                </a:solidFill>
                <a:latin typeface="+mn-ea"/>
              </a:rPr>
              <a:t>연합뉴스</a:t>
            </a:r>
            <a:r>
              <a:rPr lang="en-US" sz="4000" b="0" i="0" u="none" strike="noStrike" dirty="0">
                <a:solidFill>
                  <a:srgbClr val="000000"/>
                </a:solidFill>
                <a:latin typeface="+mn-ea"/>
              </a:rPr>
              <a:t>], [</a:t>
            </a:r>
            <a:r>
              <a:rPr lang="ko-KR" sz="4000" b="0" i="0" u="none" strike="noStrike" dirty="0">
                <a:solidFill>
                  <a:srgbClr val="000000"/>
                </a:solidFill>
                <a:latin typeface="+mn-ea"/>
              </a:rPr>
              <a:t>매일경제</a:t>
            </a:r>
            <a:r>
              <a:rPr lang="en-US" sz="4000" b="0" i="0" u="none" strike="noStrike" dirty="0">
                <a:solidFill>
                  <a:srgbClr val="000000"/>
                </a:solidFill>
                <a:latin typeface="+mn-ea"/>
              </a:rPr>
              <a:t>] </a:t>
            </a:r>
            <a:r>
              <a:rPr lang="ko-KR" sz="4000" b="0" i="0" u="none" strike="noStrike" dirty="0">
                <a:solidFill>
                  <a:srgbClr val="000000"/>
                </a:solidFill>
                <a:latin typeface="+mn-ea"/>
              </a:rPr>
              <a:t>등</a:t>
            </a:r>
            <a:r>
              <a:rPr lang="en-US" sz="40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4000" b="0" i="0" u="none" strike="noStrike" dirty="0">
                <a:solidFill>
                  <a:srgbClr val="000000"/>
                </a:solidFill>
                <a:latin typeface="+mn-ea"/>
              </a:rPr>
              <a:t>출처와</a:t>
            </a:r>
            <a:r>
              <a:rPr lang="en-US" sz="40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4000" b="0" i="0" u="none" strike="noStrike" dirty="0">
                <a:solidFill>
                  <a:srgbClr val="000000"/>
                </a:solidFill>
                <a:latin typeface="+mn-ea"/>
              </a:rPr>
              <a:t>함께</a:t>
            </a:r>
            <a:r>
              <a:rPr lang="en-US" sz="40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4000" b="0" i="0" u="none" strike="noStrike" dirty="0">
                <a:solidFill>
                  <a:srgbClr val="000000"/>
                </a:solidFill>
                <a:latin typeface="+mn-ea"/>
              </a:rPr>
              <a:t>간결하게</a:t>
            </a:r>
            <a:r>
              <a:rPr lang="en-US" sz="40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4000" b="0" i="0" u="none" strike="noStrike" dirty="0">
                <a:solidFill>
                  <a:srgbClr val="000000"/>
                </a:solidFill>
                <a:latin typeface="+mn-ea"/>
              </a:rPr>
              <a:t>구성되어</a:t>
            </a:r>
            <a:r>
              <a:rPr lang="en-US" sz="40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4000" b="0" i="0" u="none" strike="noStrike" dirty="0">
                <a:solidFill>
                  <a:srgbClr val="000000"/>
                </a:solidFill>
                <a:latin typeface="+mn-ea"/>
              </a:rPr>
              <a:t>있습니다</a:t>
            </a:r>
            <a:r>
              <a:rPr lang="en-US" sz="4000" b="0" i="0" u="none" strike="noStrike" dirty="0">
                <a:solidFill>
                  <a:srgbClr val="000000"/>
                </a:solidFill>
                <a:latin typeface="+mn-ea"/>
              </a:rPr>
              <a:t>. </a:t>
            </a:r>
            <a:r>
              <a:rPr lang="ko-KR" sz="4000" b="0" i="0" u="none" strike="noStrike" dirty="0">
                <a:solidFill>
                  <a:srgbClr val="000000"/>
                </a:solidFill>
                <a:latin typeface="+mn-ea"/>
              </a:rPr>
              <a:t>이어지는</a:t>
            </a:r>
            <a:r>
              <a:rPr lang="en-US" sz="4000" b="0" i="0" u="none" strike="noStrike" dirty="0">
                <a:solidFill>
                  <a:srgbClr val="000000"/>
                </a:solidFill>
                <a:latin typeface="+mn-ea"/>
              </a:rPr>
              <a:t> &lt;div class="analysis"&gt; </a:t>
            </a:r>
            <a:r>
              <a:rPr lang="ko-KR" sz="4000" b="0" i="0" u="none" strike="noStrike" dirty="0">
                <a:solidFill>
                  <a:srgbClr val="000000"/>
                </a:solidFill>
                <a:latin typeface="+mn-ea"/>
              </a:rPr>
              <a:t>부분에서는</a:t>
            </a:r>
            <a:r>
              <a:rPr lang="en-US" sz="40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4000" b="0" i="0" u="none" strike="noStrike" dirty="0">
                <a:solidFill>
                  <a:srgbClr val="000000"/>
                </a:solidFill>
                <a:latin typeface="+mn-ea"/>
              </a:rPr>
              <a:t>뉴스들을</a:t>
            </a:r>
            <a:r>
              <a:rPr lang="en-US" sz="40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4000" b="0" i="0" u="none" strike="noStrike" dirty="0">
                <a:solidFill>
                  <a:srgbClr val="000000"/>
                </a:solidFill>
                <a:latin typeface="+mn-ea"/>
              </a:rPr>
              <a:t>종합한</a:t>
            </a:r>
            <a:r>
              <a:rPr lang="en-US" sz="4000" b="0" i="0" u="none" strike="noStrike" dirty="0">
                <a:solidFill>
                  <a:srgbClr val="000000"/>
                </a:solidFill>
                <a:latin typeface="+mn-ea"/>
              </a:rPr>
              <a:t> AI </a:t>
            </a:r>
            <a:r>
              <a:rPr lang="ko-KR" sz="4000" b="0" i="0" u="none" strike="noStrike" dirty="0">
                <a:solidFill>
                  <a:srgbClr val="000000"/>
                </a:solidFill>
                <a:latin typeface="+mn-ea"/>
              </a:rPr>
              <a:t>해석이</a:t>
            </a:r>
            <a:r>
              <a:rPr lang="en-US" sz="40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4000" b="0" i="0" u="none" strike="noStrike" dirty="0">
                <a:solidFill>
                  <a:srgbClr val="000000"/>
                </a:solidFill>
                <a:latin typeface="+mn-ea"/>
              </a:rPr>
              <a:t>포함되어</a:t>
            </a:r>
            <a:r>
              <a:rPr lang="en-US" sz="40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4000" b="0" i="0" u="none" strike="noStrike" dirty="0">
                <a:solidFill>
                  <a:srgbClr val="000000"/>
                </a:solidFill>
                <a:latin typeface="+mn-ea"/>
              </a:rPr>
              <a:t>있습니다</a:t>
            </a:r>
            <a:r>
              <a:rPr lang="en-US" sz="4000" b="0" i="0" u="none" strike="noStrike" dirty="0">
                <a:solidFill>
                  <a:srgbClr val="000000"/>
                </a:solidFill>
                <a:latin typeface="+mn-ea"/>
              </a:rPr>
              <a:t>. </a:t>
            </a:r>
            <a:r>
              <a:rPr lang="ko-KR" sz="4000" b="0" i="0" u="none" strike="noStrike" dirty="0">
                <a:solidFill>
                  <a:srgbClr val="000000"/>
                </a:solidFill>
                <a:latin typeface="+mn-ea"/>
              </a:rPr>
              <a:t>예를</a:t>
            </a:r>
            <a:r>
              <a:rPr lang="en-US" sz="40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4000" b="0" i="0" u="none" strike="noStrike" dirty="0">
                <a:solidFill>
                  <a:srgbClr val="000000"/>
                </a:solidFill>
                <a:latin typeface="+mn-ea"/>
              </a:rPr>
              <a:t>들어</a:t>
            </a:r>
            <a:r>
              <a:rPr lang="en-US" sz="4000" b="0" i="0" u="none" strike="noStrike" dirty="0">
                <a:solidFill>
                  <a:srgbClr val="000000"/>
                </a:solidFill>
                <a:latin typeface="+mn-ea"/>
              </a:rPr>
              <a:t>, CPI </a:t>
            </a:r>
            <a:r>
              <a:rPr lang="ko-KR" sz="4000" b="0" i="0" u="none" strike="noStrike" dirty="0">
                <a:solidFill>
                  <a:srgbClr val="000000"/>
                </a:solidFill>
                <a:latin typeface="+mn-ea"/>
              </a:rPr>
              <a:t>둔화가</a:t>
            </a:r>
            <a:r>
              <a:rPr lang="en-US" sz="40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4000" b="0" i="0" u="none" strike="noStrike" dirty="0">
                <a:solidFill>
                  <a:srgbClr val="000000"/>
                </a:solidFill>
                <a:latin typeface="+mn-ea"/>
              </a:rPr>
              <a:t>금리</a:t>
            </a:r>
            <a:r>
              <a:rPr lang="en-US" sz="40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4000" b="0" i="0" u="none" strike="noStrike" dirty="0">
                <a:solidFill>
                  <a:srgbClr val="000000"/>
                </a:solidFill>
                <a:latin typeface="+mn-ea"/>
              </a:rPr>
              <a:t>인하</a:t>
            </a:r>
            <a:r>
              <a:rPr lang="en-US" sz="40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4000" b="0" i="0" u="none" strike="noStrike" dirty="0">
                <a:solidFill>
                  <a:srgbClr val="000000"/>
                </a:solidFill>
                <a:latin typeface="+mn-ea"/>
              </a:rPr>
              <a:t>기대를</a:t>
            </a:r>
            <a:r>
              <a:rPr lang="en-US" sz="40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4000" b="0" i="0" u="none" strike="noStrike" dirty="0">
                <a:solidFill>
                  <a:srgbClr val="000000"/>
                </a:solidFill>
                <a:latin typeface="+mn-ea"/>
              </a:rPr>
              <a:t>자극하고</a:t>
            </a:r>
            <a:r>
              <a:rPr lang="en-US" sz="4000" b="0" i="0" u="none" strike="noStrike" dirty="0">
                <a:solidFill>
                  <a:srgbClr val="000000"/>
                </a:solidFill>
                <a:latin typeface="+mn-ea"/>
              </a:rPr>
              <a:t>, </a:t>
            </a:r>
            <a:r>
              <a:rPr lang="ko-KR" sz="4000" b="0" i="0" u="none" strike="noStrike" dirty="0">
                <a:solidFill>
                  <a:srgbClr val="000000"/>
                </a:solidFill>
                <a:latin typeface="+mn-ea"/>
              </a:rPr>
              <a:t>이로</a:t>
            </a:r>
            <a:r>
              <a:rPr lang="en-US" sz="40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4000" b="0" i="0" u="none" strike="noStrike" dirty="0">
                <a:solidFill>
                  <a:srgbClr val="000000"/>
                </a:solidFill>
                <a:latin typeface="+mn-ea"/>
              </a:rPr>
              <a:t>인해</a:t>
            </a:r>
            <a:r>
              <a:rPr lang="en-US" sz="40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4000" b="0" i="0" u="none" strike="noStrike" dirty="0" err="1">
                <a:solidFill>
                  <a:srgbClr val="000000"/>
                </a:solidFill>
                <a:latin typeface="+mn-ea"/>
              </a:rPr>
              <a:t>기술주</a:t>
            </a:r>
            <a:r>
              <a:rPr lang="en-US" sz="4000" b="0" i="0" u="none" strike="noStrike" dirty="0">
                <a:solidFill>
                  <a:srgbClr val="000000"/>
                </a:solidFill>
                <a:latin typeface="+mn-ea"/>
              </a:rPr>
              <a:t>·</a:t>
            </a:r>
            <a:r>
              <a:rPr lang="ko-KR" sz="4000" b="0" i="0" u="none" strike="noStrike" dirty="0">
                <a:solidFill>
                  <a:srgbClr val="000000"/>
                </a:solidFill>
                <a:latin typeface="+mn-ea"/>
              </a:rPr>
              <a:t>수출주에</a:t>
            </a:r>
            <a:r>
              <a:rPr lang="en-US" sz="40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4000" b="0" i="0" u="none" strike="noStrike" dirty="0">
                <a:solidFill>
                  <a:srgbClr val="000000"/>
                </a:solidFill>
                <a:latin typeface="+mn-ea"/>
              </a:rPr>
              <a:t>매수세가</a:t>
            </a:r>
            <a:r>
              <a:rPr lang="en-US" sz="40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4000" b="0" i="0" u="none" strike="noStrike" dirty="0">
                <a:solidFill>
                  <a:srgbClr val="000000"/>
                </a:solidFill>
                <a:latin typeface="+mn-ea"/>
              </a:rPr>
              <a:t>유입되고</a:t>
            </a:r>
            <a:r>
              <a:rPr lang="en-US" sz="40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4000" b="0" i="0" u="none" strike="noStrike" dirty="0">
                <a:solidFill>
                  <a:srgbClr val="000000"/>
                </a:solidFill>
                <a:latin typeface="+mn-ea"/>
              </a:rPr>
              <a:t>있으며</a:t>
            </a:r>
            <a:r>
              <a:rPr lang="en-US" sz="4000" b="0" i="0" u="none" strike="noStrike" dirty="0">
                <a:solidFill>
                  <a:srgbClr val="000000"/>
                </a:solidFill>
                <a:latin typeface="+mn-ea"/>
              </a:rPr>
              <a:t>, </a:t>
            </a:r>
            <a:r>
              <a:rPr lang="ko-KR" sz="4000" b="0" i="0" u="none" strike="noStrike" dirty="0">
                <a:solidFill>
                  <a:srgbClr val="000000"/>
                </a:solidFill>
                <a:latin typeface="+mn-ea"/>
              </a:rPr>
              <a:t>환율</a:t>
            </a:r>
            <a:r>
              <a:rPr lang="en-US" sz="40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4000" b="0" i="0" u="none" strike="noStrike" dirty="0">
                <a:solidFill>
                  <a:srgbClr val="000000"/>
                </a:solidFill>
                <a:latin typeface="+mn-ea"/>
              </a:rPr>
              <a:t>안정이</a:t>
            </a:r>
            <a:r>
              <a:rPr lang="en-US" sz="40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4000" b="0" i="0" u="none" strike="noStrike" dirty="0">
                <a:solidFill>
                  <a:srgbClr val="000000"/>
                </a:solidFill>
                <a:latin typeface="+mn-ea"/>
              </a:rPr>
              <a:t>외국인</a:t>
            </a:r>
            <a:r>
              <a:rPr lang="en-US" sz="40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4000" b="0" i="0" u="none" strike="noStrike" dirty="0">
                <a:solidFill>
                  <a:srgbClr val="000000"/>
                </a:solidFill>
                <a:latin typeface="+mn-ea"/>
              </a:rPr>
              <a:t>순매수의</a:t>
            </a:r>
            <a:r>
              <a:rPr lang="en-US" sz="40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4000" b="0" i="0" u="none" strike="noStrike" dirty="0">
                <a:solidFill>
                  <a:srgbClr val="000000"/>
                </a:solidFill>
                <a:latin typeface="+mn-ea"/>
              </a:rPr>
              <a:t>지속으로</a:t>
            </a:r>
            <a:r>
              <a:rPr lang="en-US" sz="40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4000" b="0" i="0" u="none" strike="noStrike" dirty="0">
                <a:solidFill>
                  <a:srgbClr val="000000"/>
                </a:solidFill>
                <a:latin typeface="+mn-ea"/>
              </a:rPr>
              <a:t>이어질</a:t>
            </a:r>
            <a:r>
              <a:rPr lang="en-US" sz="40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4000" b="0" i="0" u="none" strike="noStrike" dirty="0">
                <a:solidFill>
                  <a:srgbClr val="000000"/>
                </a:solidFill>
                <a:latin typeface="+mn-ea"/>
              </a:rPr>
              <a:t>수</a:t>
            </a:r>
            <a:r>
              <a:rPr lang="en-US" sz="40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4000" b="0" i="0" u="none" strike="noStrike" dirty="0">
                <a:solidFill>
                  <a:srgbClr val="000000"/>
                </a:solidFill>
                <a:latin typeface="+mn-ea"/>
              </a:rPr>
              <a:t>있다는</a:t>
            </a:r>
            <a:r>
              <a:rPr lang="en-US" sz="40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4000" b="0" i="0" u="none" strike="noStrike" dirty="0">
                <a:solidFill>
                  <a:srgbClr val="000000"/>
                </a:solidFill>
                <a:latin typeface="+mn-ea"/>
              </a:rPr>
              <a:t>분석을</a:t>
            </a:r>
            <a:r>
              <a:rPr lang="en-US" sz="40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4000" b="0" i="0" u="none" strike="noStrike" dirty="0">
                <a:solidFill>
                  <a:srgbClr val="000000"/>
                </a:solidFill>
                <a:latin typeface="+mn-ea"/>
              </a:rPr>
              <a:t>담고</a:t>
            </a:r>
            <a:r>
              <a:rPr lang="en-US" sz="40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4000" b="0" i="0" u="none" strike="noStrike" dirty="0">
                <a:solidFill>
                  <a:srgbClr val="000000"/>
                </a:solidFill>
                <a:latin typeface="+mn-ea"/>
              </a:rPr>
              <a:t>있습니다</a:t>
            </a:r>
            <a:r>
              <a:rPr lang="en-US" sz="4000" b="0" i="0" u="none" strike="noStrike" dirty="0">
                <a:solidFill>
                  <a:srgbClr val="000000"/>
                </a:solidFill>
                <a:latin typeface="+mn-ea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368</Words>
  <Application>Microsoft Macintosh PowerPoint</Application>
  <PresentationFormat>사용자 지정</PresentationFormat>
  <Paragraphs>9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윤창빈</cp:lastModifiedBy>
  <cp:revision>2</cp:revision>
  <dcterms:created xsi:type="dcterms:W3CDTF">2006-08-16T00:00:00Z</dcterms:created>
  <dcterms:modified xsi:type="dcterms:W3CDTF">2025-12-09T22:46:43Z</dcterms:modified>
</cp:coreProperties>
</file>